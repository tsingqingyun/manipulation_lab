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页｜30 秒</a:t>
            </a:r>
          </a:p>
          <a:p>
            <a:r>
              <a:t>【0:00–0:30】今天介绍的是 Manipulation Learning Lab，也就是从示范中学习机器人操作。画面来自本仓库的真实仿真环境：Panda 机械臂要把红色易拉罐放进目标格。大家不需要先掌握机器人学或深度学习理论。这次实验的主线只有三步：观察人的示范、训练一个策略、再让机器人自己执行。策略可以先理解成一个根据当前状态决定下一步动作的函数。</a:t>
            </a:r>
          </a:p>
          <a:p/>
          <a:p>
            <a:r>
              <a:t>来源核对：</a:t>
            </a:r>
          </a:p>
          <a:p>
            <a:r>
              <a:t>README.md: Overview and Task Description</a:t>
            </a:r>
          </a:p>
          <a:p>
            <a:r>
              <a:t>media_provenance.json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页｜60 秒</a:t>
            </a:r>
          </a:p>
          <a:p>
            <a:r>
              <a:t>【0:30–1:30】先看任务：机器人能不能学会抓起并放置物体？左边是真实学生模型的一次成功轨迹，请点击画面播放。这里用半速播放，15 秒对应约 7.5 秒的仿真动作，并非运行时间变长。指一下 Panda 机械臂、红色罐子和右下方带罐形标记的目标格。右边四幅画面按时间排列：接近、抓取、搬运、放下。成功并不要求罐子直立；这个案例最终横躺，但满足本实验的稳定放置标准。我们会分别记录环境自带的成功标志，以及更严格的稳定释放放置：目标区内保留半径余量、夹爪张开且不再接触，策略继续运行至少一秒，位移不超过一厘米、速度不超过每秒五厘米。位置条件不是任意姿态完整网格都在格内的证明。</a:t>
            </a:r>
          </a:p>
          <a:p/>
          <a:p>
            <a:r>
              <a:t>来源核对：</a:t>
            </a:r>
          </a:p>
          <a:p>
            <a:r>
              <a:t>configs/environment.yaml</a:t>
            </a:r>
          </a:p>
          <a:p>
            <a:r>
              <a:t>configs/evaluation.yaml</a:t>
            </a:r>
          </a:p>
          <a:p>
            <a:r>
              <a:t>src/manipulation_lab/evaluation.py: stable_placement</a:t>
            </a:r>
          </a:p>
          <a:p>
            <a:r>
              <a:t>media_provenance.json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页｜70 秒</a:t>
            </a:r>
          </a:p>
          <a:p>
            <a:r>
              <a:t>【1:30–2:40】示范、训练和推断是三种不同的过程。首先，人演示如何操作；我们拿到的不是一张成功照片，而是连续的状态和动作记录。每个样本告诉我们：在这样的状态下，人下一步做了什么。数据共有 200 条完整示范，分成 160 条训练、20 条验证、20 条测试，不能把同一条轨迹拆到不同集合。训练时用训练示范更新模型，用验证集选择保存的模型权重，这就是 checkpoint。最后才让机器人在仿真中自己执行，测试结果不能反过来挑模型。推断不是一次性播放整条动作序列，而是不断重复：观察当前状态、计算动作、执行、再次观察。每秒重复 20 次。图中的视频是给我们看任务的；学生策略实际吃的是状态数值，不是相机图像。</a:t>
            </a:r>
          </a:p>
          <a:p/>
          <a:p>
            <a:r>
              <a:t>来源核对：</a:t>
            </a:r>
          </a:p>
          <a:p>
            <a:r>
              <a:t>README.md: Task Description</a:t>
            </a:r>
          </a:p>
          <a:p>
            <a:r>
              <a:t>src/manipulation_lab/training.py</a:t>
            </a:r>
          </a:p>
          <a:p>
            <a:r>
              <a:t>src/manipulation_lab/evaluation.py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页｜70 秒</a:t>
            </a:r>
          </a:p>
          <a:p>
            <a:r>
              <a:t>【2:40–3:50】把策略想象成一个输入输出盒子。输入的 observation，也就是当前观测，共 16 个数：夹爪末端位置 3 个数、姿态 4 个数、两根手指的关节位置 2 个数，再加罐子的位置和姿态 7 个数。姿态这里用四元数的 xyzw 顺序表示，课堂不需要展开推导。注意两根手指的关节位置不等于一个开口宽度；可视化会另外计算宽度。输出 action，也就是下一步命令，共 7 个数：三维平移、三维旋转和一个开合命令。位置以米为单位，世界坐标的 Z 轴向上。动作先归一化到负一到一，再由控制器转换：平移每个轴最多五厘米，旋转轴角各分量最多半弧度；正的夹爪命令是闭合，负的是张开。这里不输入目标图片、语言，也不把视频像素输入学生模型。</a:t>
            </a:r>
          </a:p>
          <a:p/>
          <a:p>
            <a:r>
              <a:t>来源核对：</a:t>
            </a:r>
          </a:p>
          <a:p>
            <a:r>
              <a:t>README.md: Task Description</a:t>
            </a:r>
          </a:p>
          <a:p>
            <a:r>
              <a:t>configs/environment.yaml</a:t>
            </a:r>
          </a:p>
          <a:p>
            <a:r>
              <a:t>src/manipulation_lab/common.py: policy_observation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页｜80 秒</a:t>
            </a:r>
          </a:p>
          <a:p>
            <a:r>
              <a:t>【3:50–5:10】Behavior Cloning，行为克隆，就是让模型模仿示范者下一步的动作。把同一个观测输入模型，得到预测动作，与人记录的动作比较。这里的误差叫均方误差，也就是把每个动作分量的差平方后取平均。优化器根据误差调整网络内部的权重，然后继续看下一批样本。我们用的是已有的普通前馈神经网络，简称 MLP，三层隐藏层，每层 256 个单元；不需要大家设计复杂网络。观测归一化只使用训练集统计。一次 epoch 是完整看过训练样本一遍；每种设置都训练 50 遍。右图来自真实已完成实验，虚线标出各自验证误差最低的轮次。学习率是每次更新权重的步子大小。我们会比较两种步长，但请注意：在示范状态上预测准确，不保证自己执行时能成功，动作的小误差会改变后面的状态。</a:t>
            </a:r>
          </a:p>
          <a:p/>
          <a:p>
            <a:r>
              <a:t>来源核对：</a:t>
            </a:r>
          </a:p>
          <a:p>
            <a:r>
              <a:t>configs/bc_student.json</a:t>
            </a:r>
          </a:p>
          <a:p>
            <a:r>
              <a:t>src/manipulation_lab/policy.py</a:t>
            </a:r>
          </a:p>
          <a:p>
            <a:r>
              <a:t>src/manipulation_lab/training.py</a:t>
            </a:r>
          </a:p>
          <a:p>
            <a:r>
              <a:t>assets/lr_a_training_log.csv</a:t>
            </a:r>
          </a:p>
          <a:p>
            <a:r>
              <a:t>assets/lr_b_training_log.csv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页｜70 秒</a:t>
            </a:r>
          </a:p>
          <a:p>
            <a:r>
              <a:t>【5:10–6:20】下面看大家具体要做什么。老师会提前准备环境、数据和账号，课堂按顺序打开四个 notebook，也就是可以一边运行 Python 一边看结果的交互式实验文档。第一本看人类示范、数据字段和初始位置，回答 Q1。第二本训练两种学习率，0.001 和 0.0003，并自动执行后面的评测，回答 Q2、Q3。只改变学习率，其余数据、网络、初始权重、随机种子 17、50 轮预算、批量大小 256 和设备都固定。第三本读取第二本保存的同一批结果，比较初始位置变化，回答 Q4，不再重新评测。第四本分析一次真实失败，回答 Q5，并导出证据包。预计实验与讨论 130 到 160 分钟，另留报告整理时间。修改文字答案时只重跑答案和报告单元，别重新启动第一本创建新会话。</a:t>
            </a:r>
          </a:p>
          <a:p/>
          <a:p>
            <a:r>
              <a:t>来源核对：</a:t>
            </a:r>
          </a:p>
          <a:p>
            <a:r>
              <a:t>README.md: Getting Started and Experiments</a:t>
            </a:r>
          </a:p>
          <a:p>
            <a:r>
              <a:t>docs/assignment_student.md</a:t>
            </a:r>
          </a:p>
          <a:p>
            <a:r>
              <a:t>notebooks/01_demonstrations.ipynb</a:t>
            </a:r>
          </a:p>
          <a:p>
            <a:r>
              <a:t>notebooks/02_train_policy.ipynb</a:t>
            </a:r>
          </a:p>
          <a:p>
            <a:r>
              <a:t>notebooks/03_policy_evaluation.ipynb</a:t>
            </a:r>
          </a:p>
          <a:p>
            <a:r>
              <a:t>notebooks/04_failure_analysis.ipynb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 页｜80 秒</a:t>
            </a:r>
          </a:p>
          <a:p>
            <a:r>
              <a:t>【6:20–7:40】每个模型都做五个标准起点和五个位移起点，一共两个模型、20 次仿真。位移测试沿世界 X 轴把罐子移动四厘米；同一对案例的来源示范和随机种子一致。左图可以把它看成桌面的俯视图，每条线连接同一案例的两个初始位置。右边是真实已完成的一个示例：学习率 0.001 在标准和位移条件下分别稳定成功 2/5、3/5，0.0003 是 5/5、5/5。这不是大家必须复现的目标分数，也不能据此断言第二种学习率普遍更优。每组只有五例，重复同一随机种子的六个小组也不是六组独立统计证据。位移条件甚至可能表现更好，所以不要预设变化一定造成失败。四厘米的变化可能仍落在训练数据覆盖区域，二维图也不能证明整个输入分布发生了严格的分布外变化。主模型 lr_a 在测试前就已固定；比较两者，但不要按测试分数重新选主模型。</a:t>
            </a:r>
          </a:p>
          <a:p/>
          <a:p>
            <a:r>
              <a:t>来源核对：</a:t>
            </a:r>
          </a:p>
          <a:p>
            <a:r>
              <a:t>configs/controlled_experiment.json</a:t>
            </a:r>
          </a:p>
          <a:p>
            <a:r>
              <a:t>configs/evaluation.yaml</a:t>
            </a:r>
          </a:p>
          <a:p>
            <a:r>
              <a:t>docs/assignment_student.md: Part 3</a:t>
            </a:r>
          </a:p>
          <a:p>
            <a:r>
              <a:t>assets/lr_a_evaluation_summary.json</a:t>
            </a:r>
          </a:p>
          <a:p>
            <a:r>
              <a:t>assets/lr_b_evaluation_summary.json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 页｜80 秒</a:t>
            </a:r>
          </a:p>
          <a:p>
            <a:r>
              <a:t>【7:40–9:00】失败分析是实验很重要的一部分。这三张画面来自同一个真实失败案例，步数是 1、41、81；到第三张时，罐子还在源箱。它没有稳定放进目标格，这是观察事实。至于为什么失败，不能仅凭这一帧就说模型没学会抓取或接触参数错误。右图显示完整轨迹中的罐子高度和夹爪宽度，帮助大家定位应该回看哪个时刻。请至少选三个控制步，并标出你能用证据支持的最早可见错误，再提出原因假设和一个能检验假设的对照实验。Notebook 04 允许修改关键步和错误标记，生成所选帧、状态表和曲线。视频每四步采一帧，请区分你请求的精确状态步和最近视频帧，说明偏差；第零步并没有对应视频帧。夹爪命令是无单位数，开口宽度才是米。如果主学生模型没有失败，可以用明确标注的老师参考案例，不能冒充自己的模型结果。</a:t>
            </a:r>
          </a:p>
          <a:p/>
          <a:p>
            <a:r>
              <a:t>来源核对：</a:t>
            </a:r>
          </a:p>
          <a:p>
            <a:r>
              <a:t>notebooks/04_failure_analysis.ipynb</a:t>
            </a:r>
          </a:p>
          <a:p>
            <a:r>
              <a:t>src/manipulation_lab/reporting.py</a:t>
            </a:r>
          </a:p>
          <a:p>
            <a:r>
              <a:t>assets/failure_trace.npz</a:t>
            </a:r>
          </a:p>
          <a:p>
            <a:r>
              <a:t>media_provenance.json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 页｜60 秒</a:t>
            </a:r>
          </a:p>
          <a:p>
            <a:r>
              <a:t>【9:00–10:00】最后，每组交两样东西：一到两页 PDF 报告，以及第四本 notebook 生成的证据 ZIP。报告用自己的话回答五个问题：用了什么输入输出、行为克隆怎么学习、低误差是否等于高成功率、改变初始位置有什么影响、失败发生在哪以及怎么检验改进。ZIP 保留两种模型、配置、曲线、评测记录、视频和失败证据，在 Jupyter 文件浏览器下载。自动生成的 Markdown 是证据附录，不替代大家自己的讨论；答案空着或没标错误，仍会标记为草稿。评分总共 100 分：示范理解 20，训练实验 25，评测 30，失败分析与讨论 25。成功率高本身不加分，有完整证据和合理分析的失败也能拿满分。保留原始输出，不要通过反复换种子去挑最好的一次。现在从 Notebook 01 开始。</a:t>
            </a:r>
          </a:p>
          <a:p/>
          <a:p>
            <a:r>
              <a:t>来源核对：</a:t>
            </a:r>
          </a:p>
          <a:p>
            <a:r>
              <a:t>README.md: Submission Requirements and Grading Rubric</a:t>
            </a:r>
          </a:p>
          <a:p>
            <a:r>
              <a:t>docs/assignment_student.md: Submission and Detailed Grading</a:t>
            </a:r>
          </a:p>
          <a:p>
            <a:r>
              <a:t>notebooks/04_failure_analysis.ipynb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A8E9C7"/>
                </a:solidFill>
                <a:latin typeface="DejaVu Sans"/>
              </a:defRPr>
            </a:pPr>
            <a:r>
              <a:t>INTRODUCTION TO ROBOTICS  /  ASSIGNMENT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314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583680"/>
            <a:ext cx="4572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AC9CF"/>
                </a:solidFill>
                <a:latin typeface="DejaVu Sans"/>
              </a:defRPr>
            </a:pPr>
            <a:r>
              <a:t>MANIPULATION LEARNING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6583680"/>
            <a:ext cx="635508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BAC9CF"/>
                </a:solidFill>
                <a:latin typeface="DejaVu Sans"/>
              </a:defRPr>
            </a:pPr>
            <a:r>
              <a:t>FROM DEMONSTRATIONS TO ROBOT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65392"/>
            <a:ext cx="713232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A8E9C7"/>
                </a:solidFill>
                <a:latin typeface="DejaVu Sans"/>
              </a:defRPr>
            </a:pPr>
            <a:r>
              <a:t>01 / 09</a:t>
            </a:r>
          </a:p>
        </p:txBody>
      </p:sp>
      <p:pic>
        <p:nvPicPr>
          <p:cNvPr id="7" name="Picture 6" descr="success_step_0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822960"/>
            <a:ext cx="5349240" cy="5349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1261872"/>
            <a:ext cx="82296" cy="548640"/>
          </a:xfrm>
          <a:prstGeom prst="rect">
            <a:avLst/>
          </a:prstGeom>
          <a:solidFill>
            <a:srgbClr val="A8E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161288"/>
            <a:ext cx="5303520" cy="17373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FFFFFF"/>
                </a:solidFill>
                <a:latin typeface="DejaVu Sans"/>
              </a:defRPr>
            </a:pPr>
            <a:r>
              <a:t>Manipulation</a:t>
            </a:r>
          </a:p>
          <a:p>
            <a:pPr>
              <a:spcAft>
                <a:spcPts val="500"/>
              </a:spcAft>
              <a:defRPr sz="4100" b="1">
                <a:solidFill>
                  <a:srgbClr val="FFFFFF"/>
                </a:solidFill>
                <a:latin typeface="DejaVu Sans"/>
              </a:defRPr>
            </a:pPr>
            <a:r>
              <a:t>Learning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072384"/>
            <a:ext cx="5029200" cy="93268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500" b="0">
                <a:solidFill>
                  <a:srgbClr val="A8E9C7"/>
                </a:solidFill>
                <a:latin typeface="DejaVu Sans"/>
              </a:defRPr>
            </a:pPr>
            <a:r>
              <a:t>From Demonstrations</a:t>
            </a:r>
          </a:p>
          <a:p>
            <a:pPr>
              <a:spcAft>
                <a:spcPts val="500"/>
              </a:spcAft>
              <a:defRPr sz="2500" b="0">
                <a:solidFill>
                  <a:srgbClr val="A8E9C7"/>
                </a:solidFill>
                <a:latin typeface="DejaVu Sans"/>
              </a:defRPr>
            </a:pPr>
            <a:r>
              <a:t>to Robot Policies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261104"/>
            <a:ext cx="4937760" cy="69494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BAC9CF"/>
                </a:solidFill>
                <a:latin typeface="DejaVu Sans"/>
              </a:defRPr>
            </a:pPr>
            <a:r>
              <a:t>Learning Robot Manipulation from Demonstrations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5349240"/>
            <a:ext cx="1508760" cy="365760"/>
          </a:xfrm>
          <a:prstGeom prst="roundRect">
            <a:avLst>
              <a:gd name="adj" fmla="val 8000"/>
            </a:avLst>
          </a:prstGeom>
          <a:solidFill>
            <a:srgbClr val="243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5399531"/>
            <a:ext cx="1325880" cy="26517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A8E9C7"/>
                </a:solidFill>
                <a:latin typeface="DejaVu Sans"/>
              </a:defRPr>
            </a:pPr>
            <a:r>
              <a:t>01  Watch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5349240"/>
            <a:ext cx="1508760" cy="365760"/>
          </a:xfrm>
          <a:prstGeom prst="roundRect">
            <a:avLst>
              <a:gd name="adj" fmla="val 8000"/>
            </a:avLst>
          </a:prstGeom>
          <a:solidFill>
            <a:srgbClr val="243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5399531"/>
            <a:ext cx="1325880" cy="26517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A8E9C7"/>
                </a:solidFill>
                <a:latin typeface="DejaVu Sans"/>
              </a:defRPr>
            </a:pPr>
            <a:r>
              <a:t>02  Learn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96512" y="5349240"/>
            <a:ext cx="1508760" cy="365760"/>
          </a:xfrm>
          <a:prstGeom prst="roundRect">
            <a:avLst>
              <a:gd name="adj" fmla="val 8000"/>
            </a:avLst>
          </a:prstGeom>
          <a:solidFill>
            <a:srgbClr val="243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87952" y="5399531"/>
            <a:ext cx="1325880" cy="26517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A8E9C7"/>
                </a:solidFill>
                <a:latin typeface="DejaVu Sans"/>
              </a:defRPr>
            </a:pPr>
            <a:r>
              <a:t>03  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5879592"/>
            <a:ext cx="502920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01F2C"/>
                </a:solidFill>
                <a:latin typeface="DejaVu Sans"/>
              </a:defRPr>
            </a:pPr>
            <a:r>
              <a:t>PANDA  /  PICKPLACECAN  /  REAL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87F80"/>
                </a:solidFill>
                <a:latin typeface="DejaVu Sans"/>
              </a:defRPr>
            </a:pPr>
            <a:r>
              <a:t>INTRODUCTION TO ROBOTICS  / 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01F2C"/>
                </a:solidFill>
                <a:latin typeface="DejaVu Sans"/>
              </a:defRPr>
            </a:pPr>
            <a:r>
              <a:t>What Will the Robot Do?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83680"/>
            <a:ext cx="4572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46574"/>
                </a:solidFill>
                <a:latin typeface="DejaVu Sans"/>
              </a:defRPr>
            </a:pPr>
            <a:r>
              <a:t>MANIPULATION LEARNING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583680"/>
            <a:ext cx="635508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46574"/>
                </a:solidFill>
                <a:latin typeface="DejaVu Sans"/>
              </a:defRPr>
            </a:pPr>
            <a:r>
              <a:t>WATCH THE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713232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087F80"/>
                </a:solidFill>
                <a:latin typeface="DejaVu Sans"/>
              </a:defRPr>
            </a:pPr>
            <a:r>
              <a:t>02 /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307592"/>
            <a:ext cx="10972800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546574"/>
                </a:solidFill>
                <a:latin typeface="DejaVu Sans"/>
              </a:defRPr>
            </a:pPr>
            <a:r>
              <a:t>Can a robot learn to pick and place objects?</a:t>
            </a:r>
          </a:p>
        </p:txBody>
      </p:sp>
      <p:pic>
        <p:nvPicPr>
          <p:cNvPr id="9" name="success_half_speed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02920" y="1801368"/>
            <a:ext cx="4343400" cy="4343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5669280"/>
            <a:ext cx="3977639" cy="365760"/>
          </a:xfrm>
          <a:prstGeom prst="roundRect">
            <a:avLst>
              <a:gd name="adj" fmla="val 8000"/>
            </a:avLst>
          </a:prstGeom>
          <a:solidFill>
            <a:srgbClr val="10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5719572"/>
            <a:ext cx="3794759" cy="26517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CLICK TO PLAY  ·  15 s  ·  0.5× SPEED</a:t>
            </a:r>
          </a:p>
        </p:txBody>
      </p:sp>
      <p:pic>
        <p:nvPicPr>
          <p:cNvPr id="12" name="Picture 11" descr="success_pos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1883664"/>
            <a:ext cx="1444752" cy="14447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12080" y="3447288"/>
            <a:ext cx="1499616" cy="30175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01F2C"/>
                </a:solidFill>
                <a:latin typeface="DejaVu Sans"/>
              </a:defRPr>
            </a:pPr>
            <a:r>
              <a:t>Reach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675120" y="2514600"/>
            <a:ext cx="128016" cy="118872"/>
          </a:xfrm>
          <a:prstGeom prst="rightArrow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uccess_step_0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1424" y="1883664"/>
            <a:ext cx="1444752" cy="14447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21424" y="3447288"/>
            <a:ext cx="1499616" cy="30175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01F2C"/>
                </a:solidFill>
                <a:latin typeface="DejaVu Sans"/>
              </a:defRPr>
            </a:pPr>
            <a:r>
              <a:t>Grasp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284464" y="2514600"/>
            <a:ext cx="128016" cy="118872"/>
          </a:xfrm>
          <a:prstGeom prst="rightArrow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uccess_step_08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0768" y="1883664"/>
            <a:ext cx="1444752" cy="14447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30768" y="3447288"/>
            <a:ext cx="1499616" cy="30175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01F2C"/>
                </a:solidFill>
                <a:latin typeface="DejaVu Sans"/>
              </a:defRPr>
            </a:pPr>
            <a:r>
              <a:t>Transport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893808" y="2514600"/>
            <a:ext cx="128016" cy="118872"/>
          </a:xfrm>
          <a:prstGeom prst="rightArrow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uccess_step_14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0112" y="1883664"/>
            <a:ext cx="1444752" cy="14447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040112" y="3447288"/>
            <a:ext cx="1499616" cy="30175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01F2C"/>
                </a:solidFill>
                <a:latin typeface="DejaVu Sans"/>
              </a:defRPr>
            </a:pPr>
            <a:r>
              <a:t>Place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4023360"/>
            <a:ext cx="137160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87F80"/>
                </a:solidFill>
                <a:latin typeface="DejaVu Sans"/>
              </a:defRPr>
            </a:pPr>
            <a:r>
              <a:t>ROBOT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4297680"/>
            <a:ext cx="18288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01F2C"/>
                </a:solidFill>
                <a:latin typeface="DejaVu Sans"/>
              </a:defRPr>
            </a:pPr>
            <a:r>
              <a:t>Panda arm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4023360"/>
            <a:ext cx="182880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87F80"/>
                </a:solidFill>
                <a:latin typeface="DejaVu Sans"/>
              </a:defRPr>
            </a:pPr>
            <a:r>
              <a:t>TARGET OBJECT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4297680"/>
            <a:ext cx="18288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01F2C"/>
                </a:solidFill>
                <a:latin typeface="DejaVu Sans"/>
              </a:defRPr>
            </a:pPr>
            <a:r>
              <a:t>Red can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4023360"/>
            <a:ext cx="228600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87F80"/>
                </a:solidFill>
                <a:latin typeface="DejaVu Sans"/>
              </a:defRPr>
            </a:pPr>
            <a:r>
              <a:t>GOAL REGION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4297680"/>
            <a:ext cx="22860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01F2C"/>
                </a:solidFill>
                <a:latin typeface="DejaVu Sans"/>
              </a:defRPr>
            </a:pPr>
            <a:r>
              <a:t>Can-marked bin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12080" y="4882896"/>
            <a:ext cx="6473952" cy="1252728"/>
          </a:xfrm>
          <a:prstGeom prst="roundRect">
            <a:avLst>
              <a:gd name="adj" fmla="val 8000"/>
            </a:avLst>
          </a:prstGeom>
          <a:solidFill>
            <a:srgbClr val="E5E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13248" y="5065776"/>
            <a:ext cx="6089904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087F80"/>
                </a:solidFill>
                <a:latin typeface="DejaVu Sans"/>
              </a:defRPr>
            </a:pPr>
            <a:r>
              <a:t>Success = inside + released + stable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3248" y="5504688"/>
            <a:ext cx="6016752" cy="521207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01F2C"/>
                </a:solidFill>
                <a:latin typeface="DejaVu Sans"/>
              </a:defRPr>
            </a:pPr>
            <a:r>
              <a:t>Target margin · open gripper · no contact</a:t>
            </a:r>
          </a:p>
          <a:p>
            <a:pPr>
              <a:spcAft>
                <a:spcPts val="500"/>
              </a:spcAft>
              <a:defRPr sz="1400" b="0">
                <a:solidFill>
                  <a:srgbClr val="101F2C"/>
                </a:solidFill>
                <a:latin typeface="DejaVu Sans"/>
              </a:defRPr>
            </a:pPr>
            <a:r>
              <a:t>Stable for 1 s: displacement ≤1 cm; speed ≤5 cm/s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87F80"/>
                </a:solidFill>
                <a:latin typeface="DejaVu Sans"/>
              </a:defRPr>
            </a:pPr>
            <a:r>
              <a:t>INTRODUCTION TO ROBOTICS  / 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01F2C"/>
                </a:solidFill>
                <a:latin typeface="DejaVu Sans"/>
              </a:defRPr>
            </a:pPr>
            <a:r>
              <a:t>Demonstration → Training → Inference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83680"/>
            <a:ext cx="4572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46574"/>
                </a:solidFill>
                <a:latin typeface="DejaVu Sans"/>
              </a:defRPr>
            </a:pPr>
            <a:r>
              <a:t>MANIPULATION LEARNING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583680"/>
            <a:ext cx="635508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46574"/>
                </a:solidFill>
                <a:latin typeface="DejaVu Sans"/>
              </a:defRPr>
            </a:pPr>
            <a:r>
              <a:t>THE LEARNING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713232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087F80"/>
                </a:solidFill>
                <a:latin typeface="DejaVu Sans"/>
              </a:defRPr>
            </a:pPr>
            <a:r>
              <a:t>03 /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56231"/>
            <a:ext cx="3410712" cy="28254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84831"/>
            <a:ext cx="91440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87F80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505456"/>
            <a:ext cx="3017520" cy="42062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01F2C"/>
                </a:solidFill>
                <a:latin typeface="DejaVu Sans"/>
              </a:defRPr>
            </a:pPr>
            <a:r>
              <a:t>Demonstration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054096"/>
            <a:ext cx="2953512" cy="6309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87F80"/>
                </a:solidFill>
                <a:latin typeface="DejaVu Sans"/>
              </a:defRPr>
            </a:pPr>
            <a:r>
              <a:t>A person shows the task.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803904"/>
            <a:ext cx="2953512" cy="7132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46574"/>
                </a:solidFill>
                <a:latin typeface="DejaVu Sans"/>
              </a:defRPr>
            </a:pPr>
            <a:r>
              <a:t>Record current state</a:t>
            </a:r>
          </a:p>
          <a:p>
            <a:pPr>
              <a:spcAft>
                <a:spcPts val="500"/>
              </a:spcAft>
              <a:defRPr sz="1600" b="0">
                <a:solidFill>
                  <a:srgbClr val="546574"/>
                </a:solidFill>
                <a:latin typeface="DejaVu Sans"/>
              </a:defRPr>
            </a:pPr>
            <a:r>
              <a:t>and the next 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56231"/>
            <a:ext cx="3410712" cy="28254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2084831"/>
            <a:ext cx="91440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87F80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505456"/>
            <a:ext cx="3017520" cy="42062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01F2C"/>
                </a:solidFill>
                <a:latin typeface="DejaVu Sans"/>
              </a:defRPr>
            </a:pPr>
            <a:r>
              <a:t>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054096"/>
            <a:ext cx="2953512" cy="6309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87F80"/>
                </a:solidFill>
                <a:latin typeface="DejaVu Sans"/>
              </a:defRPr>
            </a:pPr>
            <a:r>
              <a:t>Learn a state → action rule.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803904"/>
            <a:ext cx="2953512" cy="7132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46574"/>
                </a:solidFill>
                <a:latin typeface="DejaVu Sans"/>
              </a:defRPr>
            </a:pPr>
            <a:r>
              <a:t>Compare with the human action.</a:t>
            </a:r>
          </a:p>
          <a:p>
            <a:pPr>
              <a:spcAft>
                <a:spcPts val="500"/>
              </a:spcAft>
              <a:defRPr sz="1600" b="0">
                <a:solidFill>
                  <a:srgbClr val="546574"/>
                </a:solidFill>
                <a:latin typeface="DejaVu Sans"/>
              </a:defRPr>
            </a:pPr>
            <a:r>
              <a:t>Update the model weights.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856231"/>
            <a:ext cx="3410712" cy="28254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2084831"/>
            <a:ext cx="91440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87F80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2505456"/>
            <a:ext cx="3017520" cy="42062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01F2C"/>
                </a:solidFill>
                <a:latin typeface="DejaVu Sans"/>
              </a:defRPr>
            </a:pPr>
            <a:r>
              <a:t>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3054096"/>
            <a:ext cx="2953512" cy="6309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87F80"/>
                </a:solidFill>
                <a:latin typeface="DejaVu Sans"/>
              </a:defRPr>
            </a:pPr>
            <a:r>
              <a:t>Let the policy act.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3803904"/>
            <a:ext cx="2953512" cy="7132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46574"/>
                </a:solidFill>
                <a:latin typeface="DejaVu Sans"/>
              </a:defRPr>
            </a:pPr>
            <a:r>
              <a:t>Observe → act → observe again.</a:t>
            </a:r>
          </a:p>
          <a:p>
            <a:pPr>
              <a:spcAft>
                <a:spcPts val="500"/>
              </a:spcAft>
              <a:defRPr sz="1600" b="0">
                <a:solidFill>
                  <a:srgbClr val="546574"/>
                </a:solidFill>
                <a:latin typeface="DejaVu Sans"/>
              </a:defRPr>
            </a:pPr>
            <a:r>
              <a:t>Repeat 20 times per second.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023360" y="3108960"/>
            <a:ext cx="265176" cy="228600"/>
          </a:xfrm>
          <a:prstGeom prst="rightArrow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7909560" y="3108960"/>
            <a:ext cx="265176" cy="228600"/>
          </a:xfrm>
          <a:prstGeom prst="rightArrow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5084064"/>
            <a:ext cx="914400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87F80"/>
                </a:solidFill>
                <a:latin typeface="DejaVu Sans"/>
              </a:defRPr>
            </a:pPr>
            <a:r>
              <a:t>200 HUMAN DEMONSTRATIONS  ·  SPLIT BY COMPLETE EPISODE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458968"/>
            <a:ext cx="7022592" cy="530352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577840"/>
            <a:ext cx="683971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DejaVu Sans"/>
              </a:defRPr>
            </a:pPr>
            <a:r>
              <a:t>160 train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458968"/>
            <a:ext cx="1408176" cy="530352"/>
          </a:xfrm>
          <a:prstGeom prst="rect">
            <a:avLst/>
          </a:prstGeom>
          <a:solidFill>
            <a:srgbClr val="D97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16952" y="5577840"/>
            <a:ext cx="122529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DejaVu Sans"/>
              </a:defRPr>
            </a:pPr>
            <a:r>
              <a:t>20 validate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33688" y="5458968"/>
            <a:ext cx="1408176" cy="530352"/>
          </a:xfrm>
          <a:prstGeom prst="rect">
            <a:avLst/>
          </a:prstGeom>
          <a:solidFill>
            <a:srgbClr val="10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25128" y="5577840"/>
            <a:ext cx="122529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DejaVu Sans"/>
              </a:defRPr>
            </a:pPr>
            <a:r>
              <a:t>20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" y="6108192"/>
            <a:ext cx="109728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46574"/>
                </a:solidFill>
                <a:latin typeface="DejaVu Sans"/>
              </a:defRPr>
            </a:pPr>
            <a:r>
              <a:t>Validation selects saved weights. Test results never select the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87F80"/>
                </a:solidFill>
                <a:latin typeface="DejaVu Sans"/>
              </a:defRPr>
            </a:pPr>
            <a:r>
              <a:t>INTRODUCTION TO ROBOTICS  / 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01F2C"/>
                </a:solidFill>
                <a:latin typeface="DejaVu Sans"/>
              </a:defRPr>
            </a:pPr>
            <a:r>
              <a:t>What Does the Policy See and Do?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83680"/>
            <a:ext cx="4572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46574"/>
                </a:solidFill>
                <a:latin typeface="DejaVu Sans"/>
              </a:defRPr>
            </a:pPr>
            <a:r>
              <a:t>MANIPULATION LEARNING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583680"/>
            <a:ext cx="635508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46574"/>
                </a:solidFill>
                <a:latin typeface="DejaVu Sans"/>
              </a:defRPr>
            </a:pPr>
            <a:r>
              <a:t>OBSERVATION → POLICY →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713232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087F80"/>
                </a:solidFill>
                <a:latin typeface="DejaVu Sans"/>
              </a:defRPr>
            </a:pPr>
            <a:r>
              <a:t>04 /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365760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0" y="1783080"/>
            <a:ext cx="4370832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347472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87F80"/>
                </a:solidFill>
                <a:latin typeface="DejaVu Sans"/>
              </a:defRPr>
            </a:pPr>
            <a:r>
              <a:t>OBSERVATION  /  CURRENT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32304"/>
            <a:ext cx="3154680" cy="6035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01F2C"/>
                </a:solidFill>
                <a:latin typeface="DejaVu Sans"/>
              </a:defRPr>
            </a:pPr>
            <a:r>
              <a:t>16 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82296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0"/>
                </a:solidFill>
                <a:latin typeface="DejaVu Sans"/>
              </a:defRPr>
            </a:pPr>
            <a:r>
              <a:t>3 + 4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3291840"/>
            <a:ext cx="2304288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01F2C"/>
                </a:solidFill>
                <a:latin typeface="DejaVu Sans"/>
              </a:defRPr>
            </a:pPr>
            <a:r>
              <a:t>Gripper-tip position + orientation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95928"/>
            <a:ext cx="82296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0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995928"/>
            <a:ext cx="2304288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01F2C"/>
                </a:solidFill>
                <a:latin typeface="DejaVu Sans"/>
              </a:defRPr>
            </a:pPr>
            <a:r>
              <a:t>Two finger joint positions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00016"/>
            <a:ext cx="82296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0"/>
                </a:solidFill>
                <a:latin typeface="DejaVu Sans"/>
              </a:defRPr>
            </a:pPr>
            <a:r>
              <a:t>3 + 4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4700016"/>
            <a:ext cx="2304288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01F2C"/>
                </a:solidFill>
                <a:latin typeface="DejaVu Sans"/>
              </a:defRPr>
            </a:pPr>
            <a:r>
              <a:t>Can position + orientation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22392"/>
            <a:ext cx="3154680" cy="4297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46574"/>
                </a:solidFill>
                <a:latin typeface="DejaVu Sans"/>
              </a:defRPr>
            </a:pPr>
            <a:r>
              <a:t>World frame · Z points up</a:t>
            </a:r>
          </a:p>
          <a:p>
            <a:pPr>
              <a:spcAft>
                <a:spcPts val="500"/>
              </a:spcAft>
              <a:defRPr sz="1300" b="0">
                <a:solidFill>
                  <a:srgbClr val="546574"/>
                </a:solidFill>
                <a:latin typeface="DejaVu Sans"/>
              </a:defRPr>
            </a:pPr>
            <a:r>
              <a:t>Positions in meters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90288" y="2907792"/>
            <a:ext cx="2286000" cy="1435608"/>
          </a:xfrm>
          <a:prstGeom prst="roundRect">
            <a:avLst>
              <a:gd name="adj" fmla="val 8000"/>
            </a:avLst>
          </a:prstGeom>
          <a:solidFill>
            <a:srgbClr val="10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3200400"/>
            <a:ext cx="1965960" cy="3931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A8E9C7"/>
                </a:solidFill>
                <a:latin typeface="DejaVu Sans"/>
              </a:defRPr>
            </a:pPr>
            <a:r>
              <a:t>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3712463"/>
            <a:ext cx="1984248" cy="34747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FFFFFF"/>
                </a:solidFill>
                <a:latin typeface="DejaVu Sans"/>
              </a:defRPr>
            </a:pPr>
            <a:r>
              <a:t>A learned function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251960" y="3529584"/>
            <a:ext cx="237744" cy="219456"/>
          </a:xfrm>
          <a:prstGeom prst="rightArrow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6967728" y="3529584"/>
            <a:ext cx="237744" cy="219456"/>
          </a:xfrm>
          <a:prstGeom prst="rightArrow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2011680"/>
            <a:ext cx="3749039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87F80"/>
                </a:solidFill>
                <a:latin typeface="DejaVu Sans"/>
              </a:defRPr>
            </a:pPr>
            <a:r>
              <a:t>ACTION  /  NEXT COMMAND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2432304"/>
            <a:ext cx="3749039" cy="6035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01F2C"/>
                </a:solidFill>
                <a:latin typeface="DejaVu Sans"/>
              </a:defRPr>
            </a:pPr>
            <a:r>
              <a:t>7 numbers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3291840"/>
            <a:ext cx="59436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0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291840"/>
            <a:ext cx="3200400" cy="4297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01F2C"/>
                </a:solidFill>
                <a:latin typeface="DejaVu Sans"/>
              </a:defRPr>
            </a:pPr>
            <a:r>
              <a:t>Move in X, Y, 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3995928"/>
            <a:ext cx="59436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0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995928"/>
            <a:ext cx="3200400" cy="4297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01F2C"/>
                </a:solidFill>
                <a:latin typeface="DejaVu Sans"/>
              </a:defRPr>
            </a:pPr>
            <a:r>
              <a:t>Rotate the gripper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4700016"/>
            <a:ext cx="59436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0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700016"/>
            <a:ext cx="3200400" cy="4297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01F2C"/>
                </a:solidFill>
                <a:latin typeface="DejaVu Sans"/>
              </a:defRPr>
            </a:pPr>
            <a:r>
              <a:t>Close (+) or open (−)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5422392"/>
            <a:ext cx="3858768" cy="4297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46574"/>
                </a:solidFill>
                <a:latin typeface="DejaVu Sans"/>
              </a:defRPr>
            </a:pPr>
            <a:r>
              <a:t>Commands normalized to [−1, 1]</a:t>
            </a:r>
          </a:p>
          <a:p>
            <a:pPr>
              <a:spcAft>
                <a:spcPts val="500"/>
              </a:spcAft>
              <a:defRPr sz="1200" b="0">
                <a:solidFill>
                  <a:srgbClr val="546574"/>
                </a:solidFill>
                <a:latin typeface="DejaVu Sans"/>
              </a:defRPr>
            </a:pPr>
            <a:r>
              <a:t>Per axis: ±0.05 m; ±0.5 rad (axis-angle)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7" y="6126480"/>
            <a:ext cx="109728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87F80"/>
                </a:solidFill>
                <a:latin typeface="DejaVu Sans"/>
              </a:defRPr>
            </a:pPr>
            <a:r>
              <a:t>The policy reads state values; the videos help YOU see what happens.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87F80"/>
                </a:solidFill>
                <a:latin typeface="DejaVu Sans"/>
              </a:defRPr>
            </a:pPr>
            <a:r>
              <a:t>INTRODUCTION TO ROBOTICS  / 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01F2C"/>
                </a:solidFill>
                <a:latin typeface="DejaVu Sans"/>
              </a:defRPr>
            </a:pPr>
            <a:r>
              <a:t>Behavior Cloning: Learn the Next Action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83680"/>
            <a:ext cx="4572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46574"/>
                </a:solidFill>
                <a:latin typeface="DejaVu Sans"/>
              </a:defRPr>
            </a:pPr>
            <a:r>
              <a:t>MANIPULATION LEARNING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583680"/>
            <a:ext cx="635508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46574"/>
                </a:solidFill>
                <a:latin typeface="DejaVu Sans"/>
              </a:defRPr>
            </a:pPr>
            <a:r>
              <a:t>BEHAVIOR CLONING, WITHOUT THE MATH DETOUR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713232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087F80"/>
                </a:solidFill>
                <a:latin typeface="DejaVu Sans"/>
              </a:defRPr>
            </a:pPr>
            <a:r>
              <a:t>05 /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408176"/>
            <a:ext cx="1097280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546574"/>
                </a:solidFill>
                <a:latin typeface="DejaVu Sans"/>
              </a:defRPr>
            </a:pPr>
            <a:r>
              <a:t>Predict the human action. Measure the error. Improve the prediction.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112264"/>
            <a:ext cx="457200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87F80"/>
                </a:solidFill>
                <a:latin typeface="DejaVu Sans"/>
              </a:defRPr>
            </a:pPr>
            <a:r>
              <a:t>THE STUDENT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7" y="2615184"/>
            <a:ext cx="1353312" cy="365760"/>
          </a:xfrm>
          <a:prstGeom prst="roundRect">
            <a:avLst>
              <a:gd name="adj" fmla="val 8000"/>
            </a:avLst>
          </a:prstGeom>
          <a:solidFill>
            <a:srgbClr val="E5E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7" y="2665476"/>
            <a:ext cx="1170432" cy="26517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01F2C"/>
                </a:solidFill>
                <a:latin typeface="DejaVu Sans"/>
              </a:defRPr>
            </a:pPr>
            <a:r>
              <a:t>16 inputs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956816" y="2715768"/>
            <a:ext cx="237744" cy="155448"/>
          </a:xfrm>
          <a:prstGeom prst="rightArrow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95144" y="2414016"/>
            <a:ext cx="502920" cy="1197864"/>
          </a:xfrm>
          <a:prstGeom prst="roundRect">
            <a:avLst>
              <a:gd name="adj" fmla="val 8000"/>
            </a:avLst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40864" y="2852928"/>
            <a:ext cx="41148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256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35224" y="2414016"/>
            <a:ext cx="502920" cy="1197864"/>
          </a:xfrm>
          <a:prstGeom prst="roundRect">
            <a:avLst>
              <a:gd name="adj" fmla="val 8000"/>
            </a:avLst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0944" y="2852928"/>
            <a:ext cx="41148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256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75303" y="2414016"/>
            <a:ext cx="502920" cy="1197864"/>
          </a:xfrm>
          <a:prstGeom prst="roundRect">
            <a:avLst>
              <a:gd name="adj" fmla="val 8000"/>
            </a:avLst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852928"/>
            <a:ext cx="41148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256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197096" y="2715768"/>
            <a:ext cx="237744" cy="155448"/>
          </a:xfrm>
          <a:prstGeom prst="rightArrow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2615184"/>
            <a:ext cx="1234440" cy="365760"/>
          </a:xfrm>
          <a:prstGeom prst="roundRect">
            <a:avLst>
              <a:gd name="adj" fmla="val 8000"/>
            </a:avLst>
          </a:prstGeom>
          <a:solidFill>
            <a:srgbClr val="10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2665476"/>
            <a:ext cx="1051560" cy="26517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7 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3813048"/>
            <a:ext cx="5193792" cy="69494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01F2C"/>
                </a:solidFill>
                <a:latin typeface="DejaVu Sans"/>
              </a:defRPr>
            </a:pPr>
            <a:r>
              <a:t>Three hidden layers, 256 units each</a:t>
            </a:r>
          </a:p>
          <a:p>
            <a:pPr>
              <a:spcAft>
                <a:spcPts val="500"/>
              </a:spcAft>
              <a:defRPr sz="1800" b="0">
                <a:solidFill>
                  <a:srgbClr val="101F2C"/>
                </a:solidFill>
                <a:latin typeface="DejaVu Sans"/>
              </a:defRPr>
            </a:pPr>
            <a:r>
              <a:t>A feedforward neural network (MLP)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764024"/>
            <a:ext cx="521208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87F80"/>
                </a:solidFill>
                <a:latin typeface="DejaVu Sans"/>
              </a:defRPr>
            </a:pPr>
            <a:r>
              <a:t>Loss = mean squared difference</a:t>
            </a:r>
          </a:p>
          <a:p>
            <a:pPr>
              <a:spcAft>
                <a:spcPts val="500"/>
              </a:spcAft>
              <a:defRPr sz="1700" b="1">
                <a:solidFill>
                  <a:srgbClr val="087F80"/>
                </a:solidFill>
                <a:latin typeface="DejaVu Sans"/>
              </a:defRPr>
            </a:pPr>
            <a:r>
              <a:t>between predicted and human 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5605272"/>
            <a:ext cx="5212080" cy="5943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46574"/>
                </a:solidFill>
                <a:latin typeface="DejaVu Sans"/>
              </a:defRPr>
            </a:pPr>
            <a:r>
              <a:t>Learn from training data.</a:t>
            </a:r>
          </a:p>
          <a:p>
            <a:pPr>
              <a:spcAft>
                <a:spcPts val="500"/>
              </a:spcAft>
              <a:defRPr sz="1400" b="0">
                <a:solidFill>
                  <a:srgbClr val="546574"/>
                </a:solidFill>
                <a:latin typeface="DejaVu Sans"/>
              </a:defRPr>
            </a:pPr>
            <a:r>
              <a:t>Select saved weights using validation loss.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9904" y="2084831"/>
            <a:ext cx="5596128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loss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2322576"/>
            <a:ext cx="5458968" cy="3264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318504" y="5632704"/>
            <a:ext cx="5111496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46574"/>
                </a:solidFill>
                <a:latin typeface="DejaVu Sans"/>
              </a:defRPr>
            </a:pPr>
            <a:r>
              <a:t>Real example · pale lines: training</a:t>
            </a:r>
          </a:p>
          <a:p>
            <a:pPr>
              <a:spcAft>
                <a:spcPts val="500"/>
              </a:spcAft>
              <a:defRPr sz="1200" b="0">
                <a:solidFill>
                  <a:srgbClr val="546574"/>
                </a:solidFill>
                <a:latin typeface="DejaVu Sans"/>
              </a:defRPr>
            </a:pPr>
            <a:r>
              <a:t>Dotted lines: validation-selected epochs (7 and 11)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87F80"/>
                </a:solidFill>
                <a:latin typeface="DejaVu Sans"/>
              </a:defRPr>
            </a:pPr>
            <a:r>
              <a:t>INTRODUCTION TO ROBOTICS  / 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01F2C"/>
                </a:solidFill>
                <a:latin typeface="DejaVu Sans"/>
              </a:defRPr>
            </a:pPr>
            <a:r>
              <a:t>Your Assignment: Four Notebooks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83680"/>
            <a:ext cx="4572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46574"/>
                </a:solidFill>
                <a:latin typeface="DejaVu Sans"/>
              </a:defRPr>
            </a:pPr>
            <a:r>
              <a:t>MANIPULATION LEARNING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583680"/>
            <a:ext cx="635508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46574"/>
                </a:solidFill>
                <a:latin typeface="DejaVu Sans"/>
              </a:defRPr>
            </a:pPr>
            <a:r>
              <a:t>YOUR FOUR-PART EXPERIMENT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713232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087F80"/>
                </a:solidFill>
                <a:latin typeface="DejaVu Sans"/>
              </a:defRPr>
            </a:pPr>
            <a:r>
              <a:t>06 /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417320"/>
            <a:ext cx="109728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546574"/>
                </a:solidFill>
                <a:latin typeface="DejaVu Sans"/>
              </a:defRPr>
            </a:pPr>
            <a:r>
              <a:t>Use the prepared course server. Open 01 → 02 → 03 → 04 in Jupyter.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56816"/>
            <a:ext cx="11183112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130552"/>
            <a:ext cx="585216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0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066544"/>
            <a:ext cx="3657600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01F2C"/>
                </a:solidFill>
                <a:latin typeface="DejaVu Sans"/>
              </a:defRPr>
            </a:pPr>
            <a:r>
              <a:t>Explore demonstrations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404872"/>
            <a:ext cx="7726679" cy="26517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46574"/>
                </a:solidFill>
                <a:latin typeface="DejaVu Sans"/>
              </a:defRPr>
            </a:pPr>
            <a:r>
              <a:t>Play a human demo; inspect inputs and actions.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17152" y="2139696"/>
            <a:ext cx="141732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46574"/>
                </a:solidFill>
                <a:latin typeface="DejaVu Sans"/>
              </a:defRPr>
            </a:pPr>
            <a:r>
              <a:t>20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2139696"/>
            <a:ext cx="658368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300" b="1">
                <a:solidFill>
                  <a:srgbClr val="087F80"/>
                </a:solidFill>
                <a:latin typeface="DejaVu Sans"/>
              </a:defRPr>
            </a:pPr>
            <a:r>
              <a:t>Q1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816352"/>
            <a:ext cx="11183112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990088"/>
            <a:ext cx="585216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0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9616" y="2926080"/>
            <a:ext cx="3657600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01F2C"/>
                </a:solidFill>
                <a:latin typeface="DejaVu Sans"/>
              </a:defRPr>
            </a:pPr>
            <a:r>
              <a:t>Train two BC policies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3264408"/>
            <a:ext cx="7726679" cy="26517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46574"/>
                </a:solidFill>
                <a:latin typeface="DejaVu Sans"/>
              </a:defRPr>
            </a:pPr>
            <a:r>
              <a:t>Run both rates; save models, curves and evaluations.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2999232"/>
            <a:ext cx="141732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46574"/>
                </a:solidFill>
                <a:latin typeface="DejaVu Sans"/>
              </a:defRPr>
            </a:pPr>
            <a:r>
              <a:t>50–60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35640" y="2999232"/>
            <a:ext cx="658368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300" b="1">
                <a:solidFill>
                  <a:srgbClr val="087F80"/>
                </a:solidFill>
                <a:latin typeface="DejaVu Sans"/>
              </a:defRPr>
            </a:pPr>
            <a:r>
              <a:t>Q2–Q3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75887"/>
            <a:ext cx="11183112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849624"/>
            <a:ext cx="585216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0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3785615"/>
            <a:ext cx="3657600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01F2C"/>
                </a:solidFill>
                <a:latin typeface="DejaVu Sans"/>
              </a:defRPr>
            </a:pPr>
            <a:r>
              <a:t>Compare 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4123944"/>
            <a:ext cx="7726679" cy="26517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46574"/>
                </a:solidFill>
                <a:latin typeface="DejaVu Sans"/>
              </a:defRPr>
            </a:pPr>
            <a:r>
              <a:t>Read the SAME saved cases; watch outcomes.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3858768"/>
            <a:ext cx="141732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46574"/>
                </a:solidFill>
                <a:latin typeface="DejaVu Sans"/>
              </a:defRPr>
            </a:pPr>
            <a:r>
              <a:t>40–50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3858768"/>
            <a:ext cx="658368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300" b="1">
                <a:solidFill>
                  <a:srgbClr val="087F80"/>
                </a:solidFill>
                <a:latin typeface="DejaVu Sans"/>
              </a:defRPr>
            </a:pPr>
            <a:r>
              <a:t>Q4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535424"/>
            <a:ext cx="11183112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709160"/>
            <a:ext cx="585216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0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99616" y="4645152"/>
            <a:ext cx="3657600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01F2C"/>
                </a:solidFill>
                <a:latin typeface="DejaVu Sans"/>
              </a:defRPr>
            </a:pPr>
            <a:r>
              <a:t>Analyze a real failure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99616" y="4983480"/>
            <a:ext cx="7726679" cy="26517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46574"/>
                </a:solidFill>
                <a:latin typeface="DejaVu Sans"/>
              </a:defRPr>
            </a:pPr>
            <a:r>
              <a:t>Select ≥3 steps; mark the first error; export evidence.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7152" y="4718304"/>
            <a:ext cx="141732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46574"/>
                </a:solidFill>
                <a:latin typeface="DejaVu Sans"/>
              </a:defRPr>
            </a:pPr>
            <a:r>
              <a:t>20–30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35640" y="4718304"/>
            <a:ext cx="658368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300" b="1">
                <a:solidFill>
                  <a:srgbClr val="087F80"/>
                </a:solidFill>
                <a:latin typeface="DejaVu Sans"/>
              </a:defRPr>
            </a:pPr>
            <a:r>
              <a:t>Q5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550408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10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5696712"/>
            <a:ext cx="3813048" cy="24688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A8E9C7"/>
                </a:solidFill>
                <a:latin typeface="DejaVu Sans"/>
              </a:defRPr>
            </a:pPr>
            <a:r>
              <a:t>ONLY CHANGE THE LEARNING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08576" y="5696712"/>
            <a:ext cx="6848856" cy="28346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FFFFF"/>
                </a:solidFill>
                <a:latin typeface="DejaVu Sans"/>
              </a:defRPr>
            </a:pPr>
            <a:r>
              <a:t>0.001 vs 0.0003  ·  Same data, model, seed 17, 50 epochs, batch 256 &amp; device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87F80"/>
                </a:solidFill>
                <a:latin typeface="DejaVu Sans"/>
              </a:defRPr>
            </a:pPr>
            <a:r>
              <a:t>INTRODUCTION TO ROBOTICS  / 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01F2C"/>
                </a:solidFill>
                <a:latin typeface="DejaVu Sans"/>
              </a:defRPr>
            </a:pPr>
            <a:r>
              <a:t>Evaluate Behavior, Not Just Loss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83680"/>
            <a:ext cx="4572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46574"/>
                </a:solidFill>
                <a:latin typeface="DejaVu Sans"/>
              </a:defRPr>
            </a:pPr>
            <a:r>
              <a:t>MANIPULATION LEARNING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583680"/>
            <a:ext cx="635508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46574"/>
                </a:solidFill>
                <a:latin typeface="DejaVu Sans"/>
              </a:defRPr>
            </a:pPr>
            <a:r>
              <a:t>MATCHED CASES, HONEST CONCLUSIONS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713232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087F80"/>
                </a:solidFill>
                <a:latin typeface="DejaVu Sans"/>
              </a:defRPr>
            </a:pPr>
            <a:r>
              <a:t>07 /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399032"/>
            <a:ext cx="10972800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087F80"/>
                </a:solidFill>
                <a:latin typeface="DejaVu Sans"/>
              </a:defRPr>
            </a:pPr>
            <a:r>
              <a:t>2 models × (5 standard + 5 shifted starts) = 20 rollouts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49240" cy="38953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osi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993392"/>
            <a:ext cx="5166360" cy="37856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27064" y="2048256"/>
            <a:ext cx="534924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87F80"/>
                </a:solidFill>
                <a:latin typeface="DejaVu Sans"/>
              </a:defRPr>
            </a:pPr>
            <a:r>
              <a:t>ONE COMPLETED EXAMPLE  /  STABLE PLACEMENTS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2651760"/>
            <a:ext cx="192024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546574"/>
                </a:solidFill>
                <a:latin typeface="DejaVu Sans"/>
              </a:defRPr>
            </a:pPr>
            <a:r>
              <a:t>Learning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6488" y="2651760"/>
            <a:ext cx="1389888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546574"/>
                </a:solidFill>
                <a:latin typeface="DejaVu Sans"/>
              </a:defRPr>
            </a:pPr>
            <a:r>
              <a:t>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2651760"/>
            <a:ext cx="141732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546574"/>
                </a:solidFill>
                <a:latin typeface="DejaVu Sans"/>
              </a:defRPr>
            </a:pPr>
            <a:r>
              <a:t>Shifted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3182112"/>
            <a:ext cx="1920240" cy="43891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01F2C"/>
                </a:solidFill>
                <a:latin typeface="DejaVu Sans"/>
              </a:defRPr>
            </a:pPr>
            <a:r>
              <a:t>0.001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3182112"/>
            <a:ext cx="1389888" cy="43891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087F80"/>
                </a:solidFill>
                <a:latin typeface="DejaVu Sans"/>
              </a:defRPr>
            </a:pPr>
            <a:r>
              <a:t>2 /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3182112"/>
            <a:ext cx="1417320" cy="43891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D97542"/>
                </a:solidFill>
                <a:latin typeface="DejaVu Sans"/>
              </a:defRPr>
            </a:pPr>
            <a:r>
              <a:t>3 /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3931920"/>
            <a:ext cx="1920240" cy="43891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01F2C"/>
                </a:solidFill>
                <a:latin typeface="DejaVu Sans"/>
              </a:defRPr>
            </a:pPr>
            <a:r>
              <a:t>0.0003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3931920"/>
            <a:ext cx="1389888" cy="43891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087F80"/>
                </a:solidFill>
                <a:latin typeface="DejaVu Sans"/>
              </a:defRPr>
            </a:pPr>
            <a:r>
              <a:t>5 /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3931920"/>
            <a:ext cx="1417320" cy="43891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D97542"/>
                </a:solidFill>
                <a:latin typeface="DejaVu Sans"/>
              </a:defRPr>
            </a:pPr>
            <a:r>
              <a:t>5 / 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36208" y="4718304"/>
            <a:ext cx="5358384" cy="0"/>
          </a:xfrm>
          <a:prstGeom prst="line">
            <a:avLst/>
          </a:prstGeom>
          <a:ln w="12700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36208" y="4946904"/>
            <a:ext cx="5394960" cy="6126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01F2C"/>
                </a:solidFill>
                <a:latin typeface="DejaVu Sans"/>
              </a:defRPr>
            </a:pPr>
            <a:r>
              <a:t>Same source episode + same seed</a:t>
            </a:r>
          </a:p>
          <a:p>
            <a:pPr>
              <a:spcAft>
                <a:spcPts val="500"/>
              </a:spcAft>
              <a:defRPr sz="1600" b="0">
                <a:solidFill>
                  <a:srgbClr val="101F2C"/>
                </a:solidFill>
                <a:latin typeface="DejaVu Sans"/>
              </a:defRPr>
            </a:pPr>
            <a:r>
              <a:t>Shift only the can: +0.04 m along world 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6080760"/>
            <a:ext cx="11119104" cy="32918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087F80"/>
                </a:solidFill>
                <a:latin typeface="DejaVu Sans"/>
              </a:defRPr>
            </a:pPr>
            <a:r>
              <a:t>Five cases are a coarse estimate. A position shift does not prove out-of-distribution testing.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87F80"/>
                </a:solidFill>
                <a:latin typeface="DejaVu Sans"/>
              </a:defRPr>
            </a:pPr>
            <a:r>
              <a:t>INTRODUCTION TO ROBOTICS  / 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01F2C"/>
                </a:solidFill>
                <a:latin typeface="DejaVu Sans"/>
              </a:defRPr>
            </a:pPr>
            <a:r>
              <a:t>Make a Failure Explainable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83680"/>
            <a:ext cx="4572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46574"/>
                </a:solidFill>
                <a:latin typeface="DejaVu Sans"/>
              </a:defRPr>
            </a:pPr>
            <a:r>
              <a:t>MANIPULATION LEARNING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583680"/>
            <a:ext cx="635508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46574"/>
                </a:solidFill>
                <a:latin typeface="DejaVu Sans"/>
              </a:defRPr>
            </a:pPr>
            <a:r>
              <a:t>VISUALIZATION → EVIDENCE →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713232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087F80"/>
                </a:solidFill>
                <a:latin typeface="DejaVu Sans"/>
              </a:defRPr>
            </a:pPr>
            <a:r>
              <a:t>08 /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408176"/>
            <a:ext cx="1097280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546574"/>
                </a:solidFill>
                <a:latin typeface="DejaVu Sans"/>
              </a:defRPr>
            </a:pPr>
            <a:r>
              <a:t>Find the first observable error. Separate what you see from why it happened.</a:t>
            </a:r>
          </a:p>
        </p:txBody>
      </p:sp>
      <p:pic>
        <p:nvPicPr>
          <p:cNvPr id="9" name="Picture 8" descr="failure_step_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57400"/>
            <a:ext cx="1609344" cy="16093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3813048"/>
            <a:ext cx="1609344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87F80"/>
                </a:solidFill>
                <a:latin typeface="DejaVu Sans"/>
              </a:defRPr>
            </a:pPr>
            <a:r>
              <a:t>Step 1</a:t>
            </a:r>
          </a:p>
        </p:txBody>
      </p:sp>
      <p:pic>
        <p:nvPicPr>
          <p:cNvPr id="11" name="Picture 10" descr="failure_step_0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6856" y="2057400"/>
            <a:ext cx="1609344" cy="16093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76856" y="3813048"/>
            <a:ext cx="1609344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87F80"/>
                </a:solidFill>
                <a:latin typeface="DejaVu Sans"/>
              </a:defRPr>
            </a:pPr>
            <a:r>
              <a:t>Step 41</a:t>
            </a:r>
          </a:p>
        </p:txBody>
      </p:sp>
      <p:pic>
        <p:nvPicPr>
          <p:cNvPr id="13" name="Picture 12" descr="failure_step_08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0791" y="2057400"/>
            <a:ext cx="1609344" cy="1609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50791" y="3813048"/>
            <a:ext cx="1609344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87F80"/>
                </a:solidFill>
                <a:latin typeface="DejaVu Sans"/>
              </a:defRPr>
            </a:pPr>
            <a:r>
              <a:t>Step 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4407408"/>
            <a:ext cx="5111496" cy="6858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01F2C"/>
                </a:solidFill>
                <a:latin typeface="DejaVu Sans"/>
              </a:defRPr>
            </a:pPr>
            <a:r>
              <a:t>One real failure · primary student model</a:t>
            </a:r>
          </a:p>
          <a:p>
            <a:pPr>
              <a:spcAft>
                <a:spcPts val="500"/>
              </a:spcAft>
              <a:defRPr sz="1700" b="0">
                <a:solidFill>
                  <a:srgbClr val="101F2C"/>
                </a:solidFill>
                <a:latin typeface="DejaVu Sans"/>
              </a:defRPr>
            </a:pPr>
            <a:r>
              <a:t>At step 81, the can remains in the source bin.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458968"/>
            <a:ext cx="1655064" cy="365760"/>
          </a:xfrm>
          <a:prstGeom prst="roundRect">
            <a:avLst>
              <a:gd name="adj" fmla="val 8000"/>
            </a:avLst>
          </a:prstGeom>
          <a:solidFill>
            <a:srgbClr val="E5E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509259"/>
            <a:ext cx="1472184" cy="26517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01F2C"/>
                </a:solidFill>
                <a:latin typeface="DejaVu Sans"/>
              </a:defRPr>
            </a:pPr>
            <a:r>
              <a:t>01  Play video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5458968"/>
            <a:ext cx="1691640" cy="365760"/>
          </a:xfrm>
          <a:prstGeom prst="roundRect">
            <a:avLst>
              <a:gd name="adj" fmla="val 8000"/>
            </a:avLst>
          </a:prstGeom>
          <a:solidFill>
            <a:srgbClr val="E5E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5509259"/>
            <a:ext cx="1508760" cy="26517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01F2C"/>
                </a:solidFill>
                <a:latin typeface="DejaVu Sans"/>
              </a:defRPr>
            </a:pPr>
            <a:r>
              <a:t>02  Select steps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05656" y="5458968"/>
            <a:ext cx="1655064" cy="365760"/>
          </a:xfrm>
          <a:prstGeom prst="roundRect">
            <a:avLst>
              <a:gd name="adj" fmla="val 8000"/>
            </a:avLst>
          </a:prstGeom>
          <a:solidFill>
            <a:srgbClr val="E5E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97096" y="5509259"/>
            <a:ext cx="1472184" cy="26517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01F2C"/>
                </a:solidFill>
                <a:latin typeface="DejaVu Sans"/>
              </a:defRPr>
            </a:pPr>
            <a:r>
              <a:t>03  Mark error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3328" y="2011680"/>
            <a:ext cx="5632704" cy="3227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ailure_tra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2103120"/>
            <a:ext cx="5577840" cy="2971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45352" y="5486400"/>
            <a:ext cx="5157216" cy="3931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087F80"/>
                </a:solidFill>
                <a:latin typeface="DejaVu Sans"/>
              </a:defRPr>
            </a:pPr>
            <a:r>
              <a:t>Observation → hypothesis → a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" y="6117336"/>
            <a:ext cx="109728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46574"/>
                </a:solidFill>
                <a:latin typeface="DejaVu Sans"/>
              </a:defRPr>
            </a:pPr>
            <a:r>
              <a:t>Notebook 04 links selected frames to logged state. Check the recorded-frame offset.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A8E9C7"/>
                </a:solidFill>
                <a:latin typeface="DejaVu Sans"/>
              </a:defRPr>
            </a:pPr>
            <a:r>
              <a:t>INTRODUCTION TO ROBOTICS  / 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FFFFF"/>
                </a:solidFill>
                <a:latin typeface="DejaVu Sans"/>
              </a:defRPr>
            </a:pPr>
            <a:r>
              <a:t>What to Submit—and What Earns Credit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314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83680"/>
            <a:ext cx="4572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AC9CF"/>
                </a:solidFill>
                <a:latin typeface="DejaVu Sans"/>
              </a:defRPr>
            </a:pPr>
            <a:r>
              <a:t>MANIPULATION LEARNING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583680"/>
            <a:ext cx="635508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BAC9CF"/>
                </a:solidFill>
                <a:latin typeface="DejaVu Sans"/>
              </a:defRPr>
            </a:pPr>
            <a:r>
              <a:t>START WITH NOTEBOOK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713232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A8E9C7"/>
                </a:solidFill>
                <a:latin typeface="DejaVu Sans"/>
              </a:defRPr>
            </a:pPr>
            <a:r>
              <a:t>09 /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773936"/>
            <a:ext cx="457200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A8E9C7"/>
                </a:solidFill>
                <a:latin typeface="DejaVu Sans"/>
              </a:defRPr>
            </a:pPr>
            <a:r>
              <a:t>YOUR GROUP SUBMITS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249424"/>
            <a:ext cx="5394960" cy="1371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DejaVu Sans"/>
              </a:defRPr>
            </a:pPr>
            <a:r>
              <a:t>1–2 page PDF</a:t>
            </a:r>
          </a:p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DejaVu Sans"/>
              </a:defRPr>
            </a:pPr>
            <a:r>
              <a:t>+ evidence ZIP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840480"/>
            <a:ext cx="5102352" cy="11430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BAC9CF"/>
                </a:solidFill>
                <a:latin typeface="DejaVu Sans"/>
              </a:defRPr>
            </a:pPr>
            <a:r>
              <a:t>Answer Q1–Q5 in your own words.</a:t>
            </a:r>
          </a:p>
          <a:p>
            <a:pPr>
              <a:spcAft>
                <a:spcPts val="500"/>
              </a:spcAft>
              <a:defRPr sz="1800" b="0">
                <a:solidFill>
                  <a:srgbClr val="BAC9CF"/>
                </a:solidFill>
                <a:latin typeface="DejaVu Sans"/>
              </a:defRPr>
            </a:pPr>
            <a:r>
              <a:t>Download the ZIP from Notebook 04.</a:t>
            </a:r>
          </a:p>
          <a:p>
            <a:pPr>
              <a:spcAft>
                <a:spcPts val="500"/>
              </a:spcAft>
              <a:defRPr sz="1800" b="0">
                <a:solidFill>
                  <a:srgbClr val="BAC9CF"/>
                </a:solidFill>
                <a:latin typeface="DejaVu Sans"/>
              </a:defRPr>
            </a:pPr>
            <a:r>
              <a:t>Keep both models and all outcomes.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5376672"/>
            <a:ext cx="5303520" cy="6035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A8E9C7"/>
                </a:solidFill>
                <a:latin typeface="DejaVu Sans"/>
              </a:defRPr>
            </a:pPr>
            <a:r>
              <a:t>Generated evidence is an appendix.</a:t>
            </a:r>
          </a:p>
          <a:p>
            <a:pPr>
              <a:spcAft>
                <a:spcPts val="500"/>
              </a:spcAft>
              <a:defRPr sz="1400" b="0">
                <a:solidFill>
                  <a:srgbClr val="A8E9C7"/>
                </a:solidFill>
                <a:latin typeface="DejaVu Sans"/>
              </a:defRPr>
            </a:pPr>
            <a:r>
              <a:t>Blank answers or no error marker = DRAFT.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1773936"/>
            <a:ext cx="502920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A8E9C7"/>
                </a:solidFill>
                <a:latin typeface="DejaVu Sans"/>
              </a:defRPr>
            </a:pPr>
            <a:r>
              <a:t>100 POINTS  /  EVIDENCE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359152"/>
            <a:ext cx="740664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A8E9C7"/>
                </a:solidFill>
                <a:latin typeface="DejaVu Sans"/>
              </a:defRPr>
            </a:pPr>
            <a: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34656" y="2423160"/>
            <a:ext cx="4123944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DejaVu Sans"/>
              </a:defRPr>
            </a:pPr>
            <a:r>
              <a:t>Demonstration understanding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3063240"/>
            <a:ext cx="740664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A8E9C7"/>
                </a:solidFill>
                <a:latin typeface="DejaVu Sans"/>
              </a:defRPr>
            </a:pPr>
            <a: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4656" y="3127248"/>
            <a:ext cx="4123944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DejaVu Sans"/>
              </a:defRPr>
            </a:pPr>
            <a:r>
              <a:t>Training &amp; controlled experiment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3767328"/>
            <a:ext cx="740664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A8E9C7"/>
                </a:solidFill>
                <a:latin typeface="DejaVu Sans"/>
              </a:defRPr>
            </a:pPr>
            <a:r>
              <a:t>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4656" y="3831336"/>
            <a:ext cx="4123944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DejaVu Sans"/>
              </a:defRPr>
            </a:pPr>
            <a:r>
              <a:t>Policy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4471416"/>
            <a:ext cx="740664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A8E9C7"/>
                </a:solidFill>
                <a:latin typeface="DejaVu Sans"/>
              </a:defRPr>
            </a:pPr>
            <a:r>
              <a:t>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34656" y="4535424"/>
            <a:ext cx="4123944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DejaVu Sans"/>
              </a:defRPr>
            </a:pPr>
            <a:r>
              <a:t>Failure analysis &amp; discussion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19672" y="5495544"/>
            <a:ext cx="5166360" cy="640080"/>
          </a:xfrm>
          <a:prstGeom prst="roundRect">
            <a:avLst>
              <a:gd name="adj" fmla="val 8000"/>
            </a:avLst>
          </a:prstGeom>
          <a:solidFill>
            <a:srgbClr val="243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2552" y="5696712"/>
            <a:ext cx="4773168" cy="26517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A8E9C7"/>
                </a:solidFill>
                <a:latin typeface="DejaVu Sans"/>
              </a:defRPr>
            </a:pPr>
            <a:r>
              <a:t>A well-explained failure can earn full credit.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Manipulation Learning Lab</dc:title>
  <dc:subject>Introduction to Robotics — Assignment Introduction</dc:subject>
  <dc:creator>Manipulation Learning Lab</dc:creator>
  <cp:keywords>Panda, PickPlaceCan, behavior cloning, assignment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