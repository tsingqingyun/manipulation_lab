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页｜30 秒</a:t>
            </a:r>
          </a:p>
          <a:p>
            <a:r>
              <a:t>【0:00–0:30】今天介绍的是 Manipulation Learning Lab，也就是从示范中学习机器人操作。画面来自本仓库的真实仿真环境：Panda 机械臂要把红色易拉罐放进目标格。大家不需要先掌握机器人学或深度学习理论。这次实验的主线只有三步：观察人的示范、训练一个策略、再让机器人自己执行。策略可以先理解成一个根据当前状态决定下一步动作的函数。</a:t>
            </a:r>
          </a:p>
          <a:p/>
          <a:p>
            <a:r>
              <a:t>来源核对：</a:t>
            </a:r>
          </a:p>
          <a:p>
            <a:r>
              <a:t>README.md: Overview and Task Description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页｜60 秒</a:t>
            </a:r>
          </a:p>
          <a:p>
            <a:r>
              <a:t>【0:30–1:30】先看任务：机器人能不能学会抓起并放置物体？左边是真实学生模型的一次成功轨迹，请点击画面播放。这里用半速播放，15 秒对应约 7.5 秒的仿真动作，并非运行时间变长。指一下 Panda 机械臂、红色罐子和右下方带罐形标记的目标格。右边四幅画面按时间排列：接近、抓取、搬运、放下。成功并不要求罐子直立；这个案例最终横躺，但满足本实验的稳定放置标准。我们会分别记录环境自带的成功标志，以及更严格的稳定释放放置：目标区内保留半径余量、夹爪张开且不再接触，策略继续运行至少一秒，位移不超过一厘米、速度不超过每秒五厘米。位置条件不是任意姿态完整网格都在格内的证明。</a:t>
            </a:r>
          </a:p>
          <a:p/>
          <a:p>
            <a:r>
              <a:t>来源核对：</a:t>
            </a:r>
          </a:p>
          <a:p>
            <a:r>
              <a:t>configs/environment.yaml</a:t>
            </a:r>
          </a:p>
          <a:p>
            <a:r>
              <a:t>configs/evaluation.yaml</a:t>
            </a:r>
          </a:p>
          <a:p>
            <a:r>
              <a:t>src/manipulation_lab/evaluation.py: stable_placement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页｜70 秒</a:t>
            </a:r>
          </a:p>
          <a:p>
            <a:r>
              <a:t>【1:30–2:40】示范、训练和推断是三种不同的过程。首先，人演示如何操作；我们拿到的不是一张成功照片，而是连续的状态和动作记录。每个样本告诉我们：在这样的状态下，人下一步做了什么。数据共有 200 条完整示范，分成 160 条训练、20 条验证、20 条测试，不能把同一条轨迹拆到不同集合。训练时用训练示范更新模型，用验证集选择保存的模型权重，这就是 checkpoint。最后才让机器人在仿真中自己执行，测试结果不能反过来挑模型。推断不是一次性播放整条动作序列，而是不断重复：观察当前状态、计算动作、执行、再次观察。每秒重复 20 次。图中的视频是给我们看任务的；学生策略实际吃的是状态数值，不是相机图像。</a:t>
            </a:r>
          </a:p>
          <a:p/>
          <a:p>
            <a:r>
              <a:t>来源核对：</a:t>
            </a:r>
          </a:p>
          <a:p>
            <a:r>
              <a:t>README.md: Task Description</a:t>
            </a:r>
          </a:p>
          <a:p>
            <a:r>
              <a:t>src/manipulation_lab/training.py</a:t>
            </a:r>
          </a:p>
          <a:p>
            <a:r>
              <a:t>src/manipulation_lab/evaluation.py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页｜70 秒</a:t>
            </a:r>
          </a:p>
          <a:p>
            <a:r>
              <a:t>【2:40–3:50】这一页用一个公式概括策略：a 上面的小帽子表示预测，等于 pi theta 对 o 的计算结果。o 是当前观测，pi 表示策略函数，theta 是训练得到的网络权重，下标 t 表示当前控制步。公式里的观测已经用训练集统计做过归一化，仿真中也使用同一组统计。原始观测共 16 个数：夹爪末端位置和姿态 7 个，两个手指关节位置 2 个，罐子位置和姿态 7 个。姿态采用 xyzw 顺序的四元数，不要求大家推导。模型是三层、每层 256 个单元的前馈网络，输出 7 个归一化命令：三维平移、三维旋转和一个夹爪开合。每秒重新观察并计算 20 次，推断时网络权重固定。世界坐标 Z 轴向上，位置单位为米；动作先在负一到一之间，控制器再按每轴五厘米、旋转轴角分量半弧度缩放；正的夹爪命令闭合，负的张开。</a:t>
            </a:r>
          </a:p>
          <a:p/>
          <a:p>
            <a:r>
              <a:t>来源核对：</a:t>
            </a:r>
          </a:p>
          <a:p>
            <a:r>
              <a:t>README.md: Task Description</a:t>
            </a:r>
          </a:p>
          <a:p>
            <a:r>
              <a:t>configs/environment.yaml</a:t>
            </a:r>
          </a:p>
          <a:p>
            <a:r>
              <a:t>src/manipulation_lab/common.py: policy_observation</a:t>
            </a:r>
          </a:p>
          <a:p>
            <a:r>
              <a:t>src/manipulation_lab/training.py: training-only normalization</a:t>
            </a:r>
          </a:p>
          <a:p>
            <a:r>
              <a:t>configs/bc_student.json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页｜80 秒</a:t>
            </a:r>
          </a:p>
          <a:p>
            <a:r>
              <a:t>【3:50–5:10】行为克隆就是让预测动作接近示范者的动作。看上面的损失公式：B 是一批样本的数量，通常为 256，最后一批可能更少；i 是这批中的第几个样本；带帽的 a 是预测，带 E 的 a 是人的示范动作。两者做差、每个分量平方，然后对这一批的七个动作分量取平均，所以前面除以 7B。双竖线下标 2 的平方，意思就是把七个分量的差平方相加。例如某个分量，示范是 0.10，预测是 0.15，这一项平方误差就是 0.0025；它还需要与其他分量和样本一起平均。接下来改变网络权重 theta。下面的公式中，eta 是学习率，决定更新幅度；d Adam 是优化器根据损失梯度、也就是误差对权重的变化方向，计算出的缩放更新方向。代码确实使用 Adam，它会综合过去的梯度，不是直接减去原始梯度。大家不需要推导这个方向，只要理解学习率控制更新步子的大小。我们比较 0.001 和 0.0003，各训练 50 轮，按验证损失最低点保存模型。右侧曲线来自实际训练；预测误差还要和后面真实执行的表现一起看。</a:t>
            </a:r>
          </a:p>
          <a:p/>
          <a:p>
            <a:r>
              <a:t>来源核对：</a:t>
            </a:r>
          </a:p>
          <a:p>
            <a:r>
              <a:t>configs/bc_student.json</a:t>
            </a:r>
          </a:p>
          <a:p>
            <a:r>
              <a:t>src/manipulation_lab/policy.py</a:t>
            </a:r>
          </a:p>
          <a:p>
            <a:r>
              <a:t>src/manipulation_lab/training.py</a:t>
            </a:r>
          </a:p>
          <a:p>
            <a:r>
              <a:t>assets/lr_a_training_log.csv</a:t>
            </a:r>
          </a:p>
          <a:p>
            <a:r>
              <a:t>assets/lr_b_training_log.csv</a:t>
            </a:r>
          </a:p>
          <a:p>
            <a:r>
              <a:t>third_party/robomimic/robomimic/algo/bc.py: nn.MSELoss</a:t>
            </a:r>
          </a:p>
          <a:p>
            <a:r>
              <a:t>third_party/robomimic/robomimic/config/bc_config.py: optimizer_type and loss weights</a:t>
            </a:r>
          </a:p>
          <a:p>
            <a:r>
              <a:t>third_party/robomimic/robomimic/utils/torch_utils.py: Adam optimizer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页｜70 秒</a:t>
            </a:r>
          </a:p>
          <a:p>
            <a:r>
              <a:t>【5:10–6:20】下面看大家具体要做什么。老师会提前准备环境、数据和账号，课堂按顺序打开四个 notebook，也就是可以一边运行 Python 一边看结果的交互式实验文档。第一本看人类示范、数据字段和初始位置，回答 Q1。第二本训练两种学习率，0.001 和 0.0003，并自动执行后面的评测，回答 Q2、Q3。只改变学习率，其余数据、网络、初始权重、随机种子 17、50 轮预算、批量大小 256 和设备都固定。第三本读取第二本保存的同一批结果，比较初始位置变化，回答 Q4，不再重新评测。第四本分析一次真实失败，回答 Q5，并导出证据包。预计实验与讨论 130 到 160 分钟，另留报告整理时间。修改文字答案时只重跑答案和报告单元，别重新启动第一本创建新会话。</a:t>
            </a:r>
          </a:p>
          <a:p/>
          <a:p>
            <a:r>
              <a:t>来源核对：</a:t>
            </a:r>
          </a:p>
          <a:p>
            <a:r>
              <a:t>README.md: Getting Started and Experiments</a:t>
            </a:r>
          </a:p>
          <a:p>
            <a:r>
              <a:t>docs/assignment_student.md</a:t>
            </a:r>
          </a:p>
          <a:p>
            <a:r>
              <a:t>notebooks/01_demonstrations.ipynb</a:t>
            </a:r>
          </a:p>
          <a:p>
            <a:r>
              <a:t>notebooks/02_train_policy.ipynb</a:t>
            </a:r>
          </a:p>
          <a:p>
            <a:r>
              <a:t>notebooks/03_policy_evaluation.ipynb</a:t>
            </a:r>
          </a:p>
          <a:p>
            <a:r>
              <a:t>notebooks/04_failure_analysis.ipynb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页｜80 秒</a:t>
            </a:r>
          </a:p>
          <a:p>
            <a:r>
              <a:t>【6:20–7:40】每个模型都做五个标准起点和五个位移起点，一共两个模型、20 次仿真。位移测试沿世界 X 轴把罐子移动四厘米；同一对案例的来源示范和随机种子一致。左图可以把它看成桌面的俯视图，每条线连接同一案例的两个初始位置。右边是真实已完成的一个示例：学习率 0.001 在标准和位移条件下分别稳定成功 2/5、3/5，0.0003 是 5/5、5/5。这不是大家必须复现的目标分数，也不能据此断言第二种学习率普遍更优。每组只有五例，重复同一随机种子的六个小组也不是六组独立统计证据。位移条件甚至可能表现更好，所以不要预设变化一定造成失败。四厘米的变化可能仍落在训练数据覆盖区域，二维图也不能证明整个输入分布发生了严格的分布外变化。主模型 lr_a 在测试前就已固定；比较两者，但不要按测试分数重新选主模型。</a:t>
            </a:r>
          </a:p>
          <a:p/>
          <a:p>
            <a:r>
              <a:t>来源核对：</a:t>
            </a:r>
          </a:p>
          <a:p>
            <a:r>
              <a:t>configs/controlled_experiment.json</a:t>
            </a:r>
          </a:p>
          <a:p>
            <a:r>
              <a:t>configs/evaluation.yaml</a:t>
            </a:r>
          </a:p>
          <a:p>
            <a:r>
              <a:t>docs/assignment_student.md: Part 3</a:t>
            </a:r>
          </a:p>
          <a:p>
            <a:r>
              <a:t>assets/lr_a_evaluation_summary.json</a:t>
            </a:r>
          </a:p>
          <a:p>
            <a:r>
              <a:t>assets/lr_b_evaluation_summary.json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页｜80 秒</a:t>
            </a:r>
          </a:p>
          <a:p>
            <a:r>
              <a:t>【7:40–9:00】失败分析是实验很重要的一部分。这三张画面来自同一个真实失败案例，步数是 1、41、81；到第三张时，罐子还在源箱。它没有稳定放进目标格，这是观察事实。至于为什么失败，不能仅凭这一帧就说模型没学会抓取或接触参数错误。右图显示完整轨迹中的罐子高度和夹爪宽度，帮助大家定位应该回看哪个时刻。请至少选三个控制步，并标出你能用证据支持的最早可见错误，再提出原因假设和一个能检验假设的对照实验。Notebook 04 允许修改关键步和错误标记，生成所选帧、状态表和曲线。视频每四步采一帧，请区分你请求的精确状态步和最近视频帧，说明偏差；第零步并没有对应视频帧。夹爪命令是无单位数，开口宽度才是米。如果主学生模型没有失败，可以用明确标注的老师参考案例，不能冒充自己的模型结果。</a:t>
            </a:r>
          </a:p>
          <a:p/>
          <a:p>
            <a:r>
              <a:t>来源核对：</a:t>
            </a:r>
          </a:p>
          <a:p>
            <a:r>
              <a:t>notebooks/04_failure_analysis.ipynb</a:t>
            </a:r>
          </a:p>
          <a:p>
            <a:r>
              <a:t>src/manipulation_lab/reporting.py</a:t>
            </a:r>
          </a:p>
          <a:p>
            <a:r>
              <a:t>assets/failure_trace.npz</a:t>
            </a:r>
          </a:p>
          <a:p>
            <a:r>
              <a:t>media_provenance.json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页｜60 秒</a:t>
            </a:r>
          </a:p>
          <a:p>
            <a:r>
              <a:t>【9:00–10:00】最后，每组交两样东西：一到两页 PDF 报告，以及第四本 notebook 生成的证据 ZIP。报告用自己的话回答五个问题：用了什么输入输出、行为克隆怎么学习、低误差是否等于高成功率、改变初始位置有什么影响、失败发生在哪以及怎么检验改进。ZIP 保留两种模型、配置、曲线、评测记录、视频和失败证据，在 Jupyter 文件浏览器下载。自动生成的 Markdown 是证据附录，不替代大家自己的讨论；答案空着或没标错误，仍会标记为草稿。评分总共 100 分：示范理解 20，训练实验 25，评测 30，失败分析与讨论 25。成功率高本身不加分，有完整证据和合理分析的失败也能拿满分。保留原始输出，不要通过反复换种子去挑最好的一次。现在从 Notebook 01 开始。</a:t>
            </a:r>
          </a:p>
          <a:p/>
          <a:p>
            <a:r>
              <a:t>来源核对：</a:t>
            </a:r>
          </a:p>
          <a:p>
            <a:r>
              <a:t>README.md: Submission Requirements and Grading Rubric</a:t>
            </a:r>
          </a:p>
          <a:p>
            <a:r>
              <a:t>docs/assignment_student.md: Submission and Detailed Grading</a:t>
            </a:r>
          </a:p>
          <a:p>
            <a:r>
              <a:t>notebooks/04_failure_analysis.ipynb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87552"/>
            <a:ext cx="53035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626970"/>
                </a:solidFill>
                <a:latin typeface="DejaVu Sans"/>
              </a:defRPr>
            </a:pPr>
            <a:r>
              <a:t>Introduction to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56231"/>
            <a:ext cx="5669280" cy="1481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20242A"/>
                </a:solidFill>
                <a:latin typeface="DejaVu Sans"/>
              </a:defRPr>
            </a:pPr>
            <a:r>
              <a:t>Manipulation</a:t>
            </a:r>
          </a:p>
          <a:p>
            <a:pPr>
              <a:spcAft>
                <a:spcPts val="500"/>
              </a:spcAft>
              <a:defRPr sz="3800" b="1">
                <a:solidFill>
                  <a:srgbClr val="20242A"/>
                </a:solidFill>
                <a:latin typeface="DejaVu Sans"/>
              </a:defRPr>
            </a:pPr>
            <a:r>
              <a:t>Learning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57600"/>
            <a:ext cx="5120640" cy="7863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3E6485"/>
                </a:solidFill>
                <a:latin typeface="DejaVu Sans"/>
              </a:defRPr>
            </a:pPr>
            <a:r>
              <a:t>From Demonstrations to Robot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120640"/>
            <a:ext cx="5166360" cy="6675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Learning Robot Manipulation</a:t>
            </a:r>
          </a:p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from Demonstrations</a:t>
            </a:r>
          </a:p>
        </p:txBody>
      </p:sp>
      <p:pic>
        <p:nvPicPr>
          <p:cNvPr id="8" name="Picture 7" descr="success_step_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978408"/>
            <a:ext cx="5010912" cy="5010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What Will the Robot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97280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6970"/>
                </a:solidFill>
                <a:latin typeface="DejaVu Sans"/>
              </a:defRPr>
            </a:pPr>
            <a:r>
              <a:t>Panda arm · red can · can-marked target bin</a:t>
            </a:r>
          </a:p>
        </p:txBody>
      </p:sp>
      <p:pic>
        <p:nvPicPr>
          <p:cNvPr id="6" name="success_half_spee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828800"/>
            <a:ext cx="425196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6144768"/>
            <a:ext cx="4206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26970"/>
                </a:solidFill>
                <a:latin typeface="DejaVu Sans"/>
              </a:defRPr>
            </a:pPr>
            <a:r>
              <a:t>Click to play · 15 s · half speed</a:t>
            </a:r>
          </a:p>
        </p:txBody>
      </p:sp>
      <p:pic>
        <p:nvPicPr>
          <p:cNvPr id="8" name="Picture 7" descr="success_po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901952"/>
            <a:ext cx="1408176" cy="1408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94960" y="3474720"/>
            <a:ext cx="1490472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0242A"/>
                </a:solidFill>
                <a:latin typeface="DejaVu Sans"/>
              </a:defRPr>
            </a:pPr>
            <a:r>
              <a:t>Reach</a:t>
            </a:r>
          </a:p>
        </p:txBody>
      </p:sp>
      <p:pic>
        <p:nvPicPr>
          <p:cNvPr id="10" name="Picture 9" descr="success_step_0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1901952"/>
            <a:ext cx="1408176" cy="14081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31152" y="3474720"/>
            <a:ext cx="1490472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0242A"/>
                </a:solidFill>
                <a:latin typeface="DejaVu Sans"/>
              </a:defRPr>
            </a:pPr>
            <a:r>
              <a:t>Grasp</a:t>
            </a:r>
          </a:p>
        </p:txBody>
      </p:sp>
      <p:pic>
        <p:nvPicPr>
          <p:cNvPr id="12" name="Picture 11" descr="success_step_0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1901952"/>
            <a:ext cx="1408176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67344" y="3474720"/>
            <a:ext cx="1490472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0242A"/>
                </a:solidFill>
                <a:latin typeface="DejaVu Sans"/>
              </a:defRPr>
            </a:pPr>
            <a:r>
              <a:t>Transport</a:t>
            </a:r>
          </a:p>
        </p:txBody>
      </p:sp>
      <p:pic>
        <p:nvPicPr>
          <p:cNvPr id="14" name="Picture 13" descr="success_step_1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3536" y="1901952"/>
            <a:ext cx="1408176" cy="14081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03536" y="3474720"/>
            <a:ext cx="1490472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0242A"/>
                </a:solidFill>
                <a:latin typeface="DejaVu Sans"/>
              </a:defRPr>
            </a:pPr>
            <a:r>
              <a:t>Place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04104" y="4105656"/>
            <a:ext cx="6016752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404104" y="4389120"/>
            <a:ext cx="594360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0242A"/>
                </a:solidFill>
                <a:latin typeface="DejaVu Sans"/>
              </a:defRPr>
            </a:pPr>
            <a:r>
              <a:t>Stable released placement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4983480"/>
            <a:ext cx="5943600" cy="10241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Inside the target region, with a radius margin</a:t>
            </a:r>
          </a:p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Gripper open and no longer touching the can</a:t>
            </a:r>
          </a:p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Stable for 1 s after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6099048"/>
            <a:ext cx="5943600" cy="2743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626970"/>
                </a:solidFill>
                <a:latin typeface="DejaVu Sans"/>
              </a:defRPr>
            </a:pPr>
            <a:r>
              <a:t>Displacement ≤1 cm · speed ≤5 cm/s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From demonstrations to a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29968"/>
            <a:ext cx="32004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20242A"/>
                </a:solidFill>
                <a:latin typeface="DejaVu Sans"/>
              </a:defRPr>
            </a:pPr>
            <a:r>
              <a:t>Demonstrations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715768"/>
            <a:ext cx="3127248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13232" y="3017520"/>
            <a:ext cx="3136392" cy="9875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Recorded observations</a:t>
            </a:r>
          </a:p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and human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29968"/>
            <a:ext cx="32004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20242A"/>
                </a:solidFill>
                <a:latin typeface="DejaVu Sans"/>
              </a:defRPr>
            </a:pPr>
            <a:r>
              <a:t>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715768"/>
            <a:ext cx="3127248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4572000" y="3017520"/>
            <a:ext cx="3136392" cy="9875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Fit a model to those</a:t>
            </a:r>
          </a:p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observation–action pairs.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29968"/>
            <a:ext cx="3200400" cy="50292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20242A"/>
                </a:solidFill>
                <a:latin typeface="DejaVu Sans"/>
              </a:defRPr>
            </a:pPr>
            <a:r>
              <a:t>Inference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715768"/>
            <a:ext cx="3127248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8321040" y="3017520"/>
            <a:ext cx="3136392" cy="9875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Use the current observation</a:t>
            </a:r>
          </a:p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to choose the next 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6" y="2075688"/>
            <a:ext cx="429768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626970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7264" y="2075688"/>
            <a:ext cx="429768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626970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453128"/>
            <a:ext cx="10789920" cy="4663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3E6485"/>
                </a:solidFill>
                <a:latin typeface="DejaVu Sans"/>
              </a:defRPr>
            </a:pPr>
            <a:r>
              <a:t>Observe → act → observe again, at 20 Hz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3232" y="5175504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3232" y="5513832"/>
            <a:ext cx="42976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0242A"/>
                </a:solidFill>
                <a:latin typeface="DejaVu Sans"/>
              </a:defRPr>
            </a:pPr>
            <a:r>
              <a:t>200 complete demonstrations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5513832"/>
            <a:ext cx="57607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160 train     20 validation     20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53328"/>
            <a:ext cx="10789920" cy="3200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Select saved model weights using validation loss; reserve test cases for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Observations and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82496"/>
            <a:ext cx="502920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42A"/>
                </a:solidFill>
                <a:latin typeface="DejaVu Sans"/>
              </a:defRPr>
            </a:pPr>
            <a:r>
              <a:t>Observation: 16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4264" y="1682496"/>
            <a:ext cx="4754880" cy="4297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42A"/>
                </a:solidFill>
                <a:latin typeface="DejaVu Sans"/>
              </a:defRPr>
            </a:pPr>
            <a:r>
              <a:t>Action: 7 values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286000"/>
            <a:ext cx="4709160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13232" y="2542032"/>
            <a:ext cx="4572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E6485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542032"/>
            <a:ext cx="423367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Gripper-tip position and 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90672"/>
            <a:ext cx="4572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E6485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090672"/>
            <a:ext cx="423367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Finger joint positions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39311"/>
            <a:ext cx="4572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E6485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639311"/>
            <a:ext cx="423367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Can position and orientation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84264" y="2286000"/>
            <a:ext cx="4709160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684264" y="2542032"/>
            <a:ext cx="4572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E6485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8624" y="2542032"/>
            <a:ext cx="423367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Translation in X, Y, 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3090672"/>
            <a:ext cx="4572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E6485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3090672"/>
            <a:ext cx="423367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Rotation of the gripper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4264" y="3639311"/>
            <a:ext cx="45720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3E6485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3639311"/>
            <a:ext cx="4233672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Close (+) or open (−)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50208"/>
            <a:ext cx="49834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World frame · Z up · positions in 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3950208"/>
            <a:ext cx="47548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Normalized commands in [−1, 1]</a:t>
            </a:r>
          </a:p>
        </p:txBody>
      </p:sp>
      <p:sp>
        <p:nvSpPr>
          <p:cNvPr id="23" name="Editable equation"/>
          <p:cNvSpPr txBox="1"/>
          <p:nvPr/>
        </p:nvSpPr>
        <p:spPr>
          <a:xfrm>
            <a:off x="731520" y="4489704"/>
            <a:ext cx="3657600" cy="7589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20242A"/>
                </a:solidFill>
                <a:latin typeface="DejaVu Sans"/>
              </a:defRPr>
            </a:pPr>
            <a:r>
              <a:rPr sz="3300">
                <a:solidFill>
                  <a:srgbClr val="20242A"/>
                </a:solidFill>
                <a:latin typeface="DejaVu Sans"/>
              </a:rPr>
              <a:t>â</a:t>
            </a:r>
            <a:r>
              <a:rPr sz="2100" baseline="-24000">
                <a:solidFill>
                  <a:srgbClr val="20242A"/>
                </a:solidFill>
                <a:latin typeface="DejaVu Sans"/>
              </a:rPr>
              <a:t>t</a:t>
            </a:r>
            <a:r>
              <a:rPr sz="3300">
                <a:solidFill>
                  <a:srgbClr val="20242A"/>
                </a:solidFill>
                <a:latin typeface="DejaVu Sans"/>
              </a:rPr>
              <a:t> = π</a:t>
            </a:r>
            <a:r>
              <a:rPr sz="2100" baseline="-24000">
                <a:solidFill>
                  <a:srgbClr val="20242A"/>
                </a:solidFill>
                <a:latin typeface="DejaVu Sans"/>
              </a:rPr>
              <a:t>θ</a:t>
            </a:r>
            <a:r>
              <a:rPr sz="3300">
                <a:solidFill>
                  <a:srgbClr val="20242A"/>
                </a:solidFill>
                <a:latin typeface="DejaVu Sans"/>
              </a:rPr>
              <a:t>(o</a:t>
            </a:r>
            <a:r>
              <a:rPr sz="2100" baseline="-24000">
                <a:solidFill>
                  <a:srgbClr val="20242A"/>
                </a:solidFill>
                <a:latin typeface="DejaVu Sans"/>
              </a:rPr>
              <a:t>t</a:t>
            </a:r>
            <a:r>
              <a:rPr sz="3300">
                <a:solidFill>
                  <a:srgbClr val="20242A"/>
                </a:solidFill>
                <a:latin typeface="DejaVu Sans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507992"/>
            <a:ext cx="6766560" cy="7589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o: normalized observation    θ: learned weights</a:t>
            </a:r>
          </a:p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â: predicted action    t: current control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05272"/>
            <a:ext cx="6583680" cy="3749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0242A"/>
                </a:solidFill>
                <a:latin typeface="DejaVu Sans"/>
              </a:defRPr>
            </a:pPr>
            <a:r>
              <a:t>Model: 16 → 256 → 256 → 256 →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117336"/>
            <a:ext cx="10698480" cy="28346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Training-only normalization · fixed weights during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Learning by behavior cloning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35024"/>
            <a:ext cx="1078992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6970"/>
                </a:solidFill>
                <a:latin typeface="DejaVu Sans"/>
              </a:defRPr>
            </a:pPr>
            <a:r>
              <a:t>Match the demonstrated action, then update the model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8528"/>
            <a:ext cx="64922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Mean squared action error</a:t>
            </a:r>
          </a:p>
        </p:txBody>
      </p:sp>
      <p:sp>
        <p:nvSpPr>
          <p:cNvPr id="7" name="Editable equation"/>
          <p:cNvSpPr txBox="1"/>
          <p:nvPr/>
        </p:nvSpPr>
        <p:spPr>
          <a:xfrm>
            <a:off x="713232" y="2615184"/>
            <a:ext cx="1618488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20242A"/>
                </a:solidFill>
                <a:latin typeface="DejaVu Sans"/>
              </a:defRPr>
            </a:pPr>
            <a:r>
              <a:rPr sz="3000">
                <a:solidFill>
                  <a:srgbClr val="20242A"/>
                </a:solidFill>
                <a:latin typeface="DejaVu Sans"/>
              </a:rPr>
              <a:t>L</a:t>
            </a:r>
            <a:r>
              <a:rPr sz="1800" baseline="-22000">
                <a:solidFill>
                  <a:srgbClr val="20242A"/>
                </a:solidFill>
                <a:latin typeface="DejaVu Sans"/>
              </a:rPr>
              <a:t>B</a:t>
            </a:r>
            <a:r>
              <a:rPr sz="3000">
                <a:solidFill>
                  <a:srgbClr val="20242A"/>
                </a:solidFill>
                <a:latin typeface="DejaVu Sans"/>
              </a:rPr>
              <a:t>(θ) 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296" y="2496312"/>
            <a:ext cx="457200" cy="3017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2100" b="0">
                <a:solidFill>
                  <a:srgbClr val="20242A"/>
                </a:solidFill>
                <a:latin typeface="DejaVu Sans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95144" y="2852928"/>
            <a:ext cx="630936" cy="0"/>
          </a:xfrm>
          <a:prstGeom prst="line">
            <a:avLst/>
          </a:prstGeom>
          <a:ln w="12700">
            <a:solidFill>
              <a:srgbClr val="20242A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2286000" y="2944368"/>
            <a:ext cx="658368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2100" b="0">
                <a:solidFill>
                  <a:srgbClr val="20242A"/>
                </a:solidFill>
                <a:latin typeface="DejaVu Sans"/>
              </a:defRPr>
            </a:pPr>
            <a:r>
              <a:t>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414016"/>
            <a:ext cx="484632" cy="24688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20242A"/>
                </a:solidFill>
                <a:latin typeface="DejaVu Sans"/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697480"/>
            <a:ext cx="539496" cy="5394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3500" b="0">
                <a:solidFill>
                  <a:srgbClr val="20242A"/>
                </a:solidFill>
                <a:latin typeface="DejaVu Sans"/>
              </a:defRPr>
            </a:pPr>
            <a:r>
              <a:t>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3282696"/>
            <a:ext cx="676656" cy="24688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0242A"/>
                </a:solidFill>
                <a:latin typeface="DejaVu Sans"/>
              </a:defRPr>
            </a:pPr>
            <a:r>
              <a:t>i = 1</a:t>
            </a:r>
          </a:p>
        </p:txBody>
      </p:sp>
      <p:sp>
        <p:nvSpPr>
          <p:cNvPr id="14" name="Editable equation"/>
          <p:cNvSpPr txBox="1"/>
          <p:nvPr/>
        </p:nvSpPr>
        <p:spPr>
          <a:xfrm>
            <a:off x="3758184" y="2651760"/>
            <a:ext cx="3291840" cy="6583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20242A"/>
                </a:solidFill>
                <a:latin typeface="DejaVu Sans"/>
              </a:defRPr>
            </a:pPr>
            <a:r>
              <a:rPr sz="3000">
                <a:solidFill>
                  <a:srgbClr val="20242A"/>
                </a:solidFill>
                <a:latin typeface="DejaVu Sans"/>
              </a:rPr>
              <a:t>‖â</a:t>
            </a:r>
            <a:r>
              <a:rPr sz="1800" baseline="-22000">
                <a:solidFill>
                  <a:srgbClr val="20242A"/>
                </a:solidFill>
                <a:latin typeface="DejaVu Sans"/>
              </a:rPr>
              <a:t>i</a:t>
            </a:r>
            <a:r>
              <a:rPr sz="3000">
                <a:solidFill>
                  <a:srgbClr val="20242A"/>
                </a:solidFill>
                <a:latin typeface="DejaVu Sans"/>
              </a:rPr>
              <a:t> − a</a:t>
            </a:r>
            <a:r>
              <a:rPr sz="1800" baseline="-22000">
                <a:solidFill>
                  <a:srgbClr val="20242A"/>
                </a:solidFill>
                <a:latin typeface="DejaVu Sans"/>
              </a:rPr>
              <a:t>i</a:t>
            </a:r>
            <a:r>
              <a:rPr sz="1800" baseline="52000">
                <a:solidFill>
                  <a:srgbClr val="20242A"/>
                </a:solidFill>
                <a:latin typeface="DejaVu Sans"/>
              </a:rPr>
              <a:t>E</a:t>
            </a:r>
            <a:r>
              <a:rPr sz="3000">
                <a:solidFill>
                  <a:srgbClr val="20242A"/>
                </a:solidFill>
                <a:latin typeface="DejaVu Sans"/>
              </a:rPr>
              <a:t>‖</a:t>
            </a:r>
            <a:r>
              <a:rPr sz="1800" baseline="-24000">
                <a:solidFill>
                  <a:srgbClr val="20242A"/>
                </a:solidFill>
                <a:latin typeface="DejaVu Sans"/>
              </a:rPr>
              <a:t>2</a:t>
            </a:r>
            <a:r>
              <a:rPr sz="1800" baseline="52000">
                <a:solidFill>
                  <a:srgbClr val="20242A"/>
                </a:solidFill>
                <a:latin typeface="DejaVu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85032"/>
            <a:ext cx="6455664" cy="7498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B: batch size (up to 256) · i: a training example</a:t>
            </a:r>
          </a:p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aᴱ: human action · average over all 7 action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90872"/>
            <a:ext cx="283464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Weight update</a:t>
            </a:r>
          </a:p>
        </p:txBody>
      </p:sp>
      <p:sp>
        <p:nvSpPr>
          <p:cNvPr id="17" name="Editable equation"/>
          <p:cNvSpPr txBox="1"/>
          <p:nvPr/>
        </p:nvSpPr>
        <p:spPr>
          <a:xfrm>
            <a:off x="3163824" y="4590288"/>
            <a:ext cx="4005072" cy="6400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900" b="0">
                <a:solidFill>
                  <a:srgbClr val="20242A"/>
                </a:solidFill>
                <a:latin typeface="DejaVu Sans"/>
              </a:defRPr>
            </a:pPr>
            <a:r>
              <a:rPr sz="2900">
                <a:solidFill>
                  <a:srgbClr val="20242A"/>
                </a:solidFill>
                <a:latin typeface="DejaVu Sans"/>
              </a:rPr>
              <a:t>θ ← θ − η d</a:t>
            </a:r>
            <a:r>
              <a:rPr sz="1600" baseline="-22000">
                <a:solidFill>
                  <a:srgbClr val="20242A"/>
                </a:solidFill>
                <a:latin typeface="DejaVu Sans"/>
              </a:rPr>
              <a:t>Adam</a:t>
            </a:r>
          </a:p>
        </p:txBody>
      </p:sp>
      <p:sp>
        <p:nvSpPr>
          <p:cNvPr id="18" name="Editable equation"/>
          <p:cNvSpPr txBox="1"/>
          <p:nvPr/>
        </p:nvSpPr>
        <p:spPr>
          <a:xfrm>
            <a:off x="731520" y="5312664"/>
            <a:ext cx="6528816" cy="4572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20242A"/>
                </a:solidFill>
                <a:latin typeface="DejaVu Sans"/>
              </a:defRPr>
            </a:pPr>
            <a:r>
              <a:rPr sz="1500">
                <a:solidFill>
                  <a:srgbClr val="20242A"/>
                </a:solidFill>
                <a:latin typeface="DejaVu Sans"/>
              </a:rPr>
              <a:t>η: learning rate · d</a:t>
            </a:r>
            <a:r>
              <a:rPr sz="1000" baseline="-22000">
                <a:solidFill>
                  <a:srgbClr val="20242A"/>
                </a:solidFill>
                <a:latin typeface="DejaVu Sans"/>
              </a:rPr>
              <a:t>Adam</a:t>
            </a:r>
            <a:r>
              <a:rPr sz="1500">
                <a:solidFill>
                  <a:srgbClr val="20242A"/>
                </a:solidFill>
                <a:latin typeface="DejaVu Sans"/>
              </a:rPr>
              <a:t>: adaptive gradient direction</a:t>
            </a:r>
          </a:p>
        </p:txBody>
      </p:sp>
      <p:pic>
        <p:nvPicPr>
          <p:cNvPr id="19" name="Picture 18" descr="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084831"/>
            <a:ext cx="3995928" cy="23957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53527" y="4663440"/>
            <a:ext cx="3675887" cy="10698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Actual training runs</a:t>
            </a:r>
          </a:p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Pale lines: training; dark lines: validation</a:t>
            </a:r>
          </a:p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Dotted lines: selected epochs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" y="5879592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731520" y="6071616"/>
            <a:ext cx="10789920" cy="3383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3E6485"/>
                </a:solidFill>
                <a:latin typeface="DejaVu Sans"/>
              </a:defRPr>
            </a:pPr>
            <a:r>
              <a:t>One action value: (0.15 − 0.10)² = 0.0025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The four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78992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6970"/>
                </a:solidFill>
                <a:latin typeface="DejaVu Sans"/>
              </a:defRPr>
            </a:pPr>
            <a:r>
              <a:t>Open the notebooks in order on the prepared course server.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1947672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731520" y="2121408"/>
            <a:ext cx="60350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3E6485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2084831"/>
            <a:ext cx="690372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Demonstrations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478024"/>
            <a:ext cx="690372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Play a demo; inspect observations and actions.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4584" y="2176272"/>
            <a:ext cx="132588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20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07624" y="2176272"/>
            <a:ext cx="722376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Q1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788920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31520" y="2962656"/>
            <a:ext cx="60350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3E6485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1056" y="2926079"/>
            <a:ext cx="690372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Policy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319272"/>
            <a:ext cx="690372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Train both rates; save models, curves and evaluations.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3017520"/>
            <a:ext cx="132588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50–60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07624" y="3017520"/>
            <a:ext cx="722376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Q2–Q3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3630168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31520" y="3803904"/>
            <a:ext cx="60350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3E6485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1056" y="3767328"/>
            <a:ext cx="690372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1056" y="4160520"/>
            <a:ext cx="690372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Inspect the same saved cases and position shifts.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3858768"/>
            <a:ext cx="132588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40–50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07624" y="3858768"/>
            <a:ext cx="722376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Q4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4471416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731520" y="4645152"/>
            <a:ext cx="60350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3E6485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1056" y="4608576"/>
            <a:ext cx="690372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Failure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1056" y="5001768"/>
            <a:ext cx="6903720" cy="2651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Select ≥3 steps; mark the first error; export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4700016"/>
            <a:ext cx="132588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20–30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07624" y="4700016"/>
            <a:ext cx="722376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Q5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" y="5312664"/>
            <a:ext cx="10707624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31" name="TextBox 30"/>
          <p:cNvSpPr txBox="1"/>
          <p:nvPr/>
        </p:nvSpPr>
        <p:spPr>
          <a:xfrm>
            <a:off x="731520" y="5522976"/>
            <a:ext cx="1069848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3E6485"/>
                </a:solidFill>
                <a:latin typeface="DejaVu Sans"/>
              </a:defRPr>
            </a:pPr>
            <a:r>
              <a:t>Compare η = 0.001 and η = 0.0003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71616"/>
            <a:ext cx="10698480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Keep data, initial weights, architecture, seed 17, 50 epochs, batch size 256 and device fixed.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Evaluating a learned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44168"/>
            <a:ext cx="1078992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626970"/>
                </a:solidFill>
                <a:latin typeface="DejaVu Sans"/>
              </a:defRPr>
            </a:pPr>
            <a:r>
              <a:t>Two models × (5 standard + 5 shifted starts) = 20 rollouts</a:t>
            </a:r>
          </a:p>
        </p:txBody>
      </p:sp>
      <p:pic>
        <p:nvPicPr>
          <p:cNvPr id="6" name="Picture 5" descr="posi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02536"/>
            <a:ext cx="5376672" cy="3941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64224" y="2048256"/>
            <a:ext cx="5084064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20242A"/>
                </a:solidFill>
                <a:latin typeface="DejaVu Sans"/>
              </a:defRPr>
            </a:pPr>
            <a:r>
              <a:t>Stable placements: one completed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889504"/>
            <a:ext cx="1856231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Learning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0224" y="2889504"/>
            <a:ext cx="1243584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2992" y="2889504"/>
            <a:ext cx="1243584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Shifted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64224" y="3364992"/>
            <a:ext cx="5065776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364224" y="3630168"/>
            <a:ext cx="1865376" cy="4023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0242A"/>
                </a:solidFill>
                <a:latin typeface="DejaVu Sans"/>
              </a:defRPr>
            </a:pPr>
            <a:r>
              <a:t>0.001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224" y="3630168"/>
            <a:ext cx="1252728" cy="4023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0242A"/>
                </a:solidFill>
                <a:latin typeface="DejaVu Sans"/>
              </a:defRPr>
            </a:pPr>
            <a:r>
              <a:t>2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3630168"/>
            <a:ext cx="1252728" cy="4023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0242A"/>
                </a:solidFill>
                <a:latin typeface="DejaVu Sans"/>
              </a:defRPr>
            </a:pPr>
            <a:r>
              <a:t>3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352544"/>
            <a:ext cx="1865376" cy="4023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0242A"/>
                </a:solidFill>
                <a:latin typeface="DejaVu Sans"/>
              </a:defRPr>
            </a:pPr>
            <a:r>
              <a:t>0.0003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4352544"/>
            <a:ext cx="1252728" cy="4023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0242A"/>
                </a:solidFill>
                <a:latin typeface="DejaVu Sans"/>
              </a:defRPr>
            </a:pPr>
            <a:r>
              <a:t>5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4352544"/>
            <a:ext cx="1252728" cy="40233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20242A"/>
                </a:solidFill>
                <a:latin typeface="DejaVu Sans"/>
              </a:defRPr>
            </a:pPr>
            <a:r>
              <a:t>5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5175504"/>
            <a:ext cx="5111496" cy="7223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Paired source episode and seed</a:t>
            </a:r>
          </a:p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Can position shifted +0.04 m along world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126480"/>
            <a:ext cx="1078992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Five cases give a coarse estimate; a position shift is not a certified out-of-distribution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Analyzing a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44168"/>
            <a:ext cx="10789920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626970"/>
                </a:solidFill>
                <a:latin typeface="DejaVu Sans"/>
              </a:defRPr>
            </a:pPr>
            <a:r>
              <a:t>Locate the first visible error using frames and logged state.</a:t>
            </a:r>
          </a:p>
        </p:txBody>
      </p:sp>
      <p:pic>
        <p:nvPicPr>
          <p:cNvPr id="6" name="Picture 5" descr="failure_step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84831"/>
            <a:ext cx="1600200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3849624"/>
            <a:ext cx="160020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Step 1</a:t>
            </a:r>
          </a:p>
        </p:txBody>
      </p:sp>
      <p:pic>
        <p:nvPicPr>
          <p:cNvPr id="8" name="Picture 7" descr="failure_step_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736" y="2084831"/>
            <a:ext cx="1600200" cy="1600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59736" y="3849624"/>
            <a:ext cx="160020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Step 41</a:t>
            </a:r>
          </a:p>
        </p:txBody>
      </p:sp>
      <p:pic>
        <p:nvPicPr>
          <p:cNvPr id="10" name="Picture 9" descr="failure_step_0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2084831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0" y="3849624"/>
            <a:ext cx="1600200" cy="32918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Step 81</a:t>
            </a:r>
          </a:p>
        </p:txBody>
      </p:sp>
      <p:pic>
        <p:nvPicPr>
          <p:cNvPr id="12" name="Picture 11" descr="failure_tr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2057400"/>
            <a:ext cx="5358384" cy="2852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" y="4626864"/>
            <a:ext cx="5138928" cy="72237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20242A"/>
                </a:solidFill>
                <a:latin typeface="DejaVu Sans"/>
              </a:defRPr>
            </a:pPr>
            <a:r>
              <a:t>Observed: the can remains in the source bin.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522976"/>
            <a:ext cx="5138928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In Notebook 04, select ≥3 control steps</a:t>
            </a:r>
          </a:p>
          <a:p>
            <a:pPr>
              <a:spcAft>
                <a:spcPts val="500"/>
              </a:spcAft>
              <a:defRPr sz="1600" b="0">
                <a:solidFill>
                  <a:srgbClr val="626970"/>
                </a:solidFill>
                <a:latin typeface="DejaVu Sans"/>
              </a:defRPr>
            </a:pPr>
            <a:r>
              <a:t>and mark the first observable 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5248656"/>
            <a:ext cx="5093208" cy="7772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3E6485"/>
                </a:solidFill>
                <a:latin typeface="DejaVu Sans"/>
              </a:defRPr>
            </a:pPr>
            <a:r>
              <a:t>Observation → hypothesis → proposed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5888736"/>
            <a:ext cx="5056632" cy="54864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Check the offset between the requested state</a:t>
            </a:r>
          </a:p>
          <a:p>
            <a:pPr>
              <a:spcAft>
                <a:spcPts val="500"/>
              </a:spcAft>
              <a:defRPr sz="1400" b="0">
                <a:solidFill>
                  <a:srgbClr val="626970"/>
                </a:solidFill>
                <a:latin typeface="DejaVu Sans"/>
              </a:defRPr>
            </a:pPr>
            <a:r>
              <a:t>and the nearest recorded video frame.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881360" cy="6035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20242A"/>
                </a:solidFill>
                <a:latin typeface="DejaVu Sans"/>
              </a:defRPr>
            </a:pPr>
            <a:r>
              <a:t>Submission and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537960"/>
            <a:ext cx="54864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626970"/>
                </a:solidFill>
                <a:latin typeface="DejaVu Sans"/>
              </a:defRPr>
            </a:pPr>
            <a:r>
              <a:t>Manipulation Learning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6519672"/>
            <a:ext cx="384048" cy="25603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626970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37943"/>
            <a:ext cx="5349240" cy="112471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20242A"/>
                </a:solidFill>
                <a:latin typeface="DejaVu Sans"/>
              </a:defRPr>
            </a:pPr>
            <a:r>
              <a:t>Submit a 1–2 page PDF</a:t>
            </a:r>
          </a:p>
          <a:p>
            <a:pPr>
              <a:spcAft>
                <a:spcPts val="500"/>
              </a:spcAft>
              <a:defRPr sz="2800" b="1">
                <a:solidFill>
                  <a:srgbClr val="20242A"/>
                </a:solidFill>
                <a:latin typeface="DejaVu Sans"/>
              </a:defRPr>
            </a:pPr>
            <a:r>
              <a:t>and the evidence ZIP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38144"/>
            <a:ext cx="5102352" cy="12252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Answer Q1–Q5 in your own words.</a:t>
            </a:r>
          </a:p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Export the ZIP from Notebook 04.</a:t>
            </a:r>
          </a:p>
          <a:p>
            <a:pPr>
              <a:spcAft>
                <a:spcPts val="500"/>
              </a:spcAft>
              <a:defRPr sz="1900" b="0">
                <a:solidFill>
                  <a:srgbClr val="20242A"/>
                </a:solidFill>
                <a:latin typeface="DejaVu Sans"/>
              </a:defRPr>
            </a:pPr>
            <a:r>
              <a:t>Include both models and all outcomes.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21224"/>
            <a:ext cx="5129784" cy="7680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The generated report is an evidence appendix.</a:t>
            </a:r>
          </a:p>
          <a:p>
            <a:pPr>
              <a:spcAft>
                <a:spcPts val="500"/>
              </a:spcAft>
              <a:defRPr sz="1500" b="0">
                <a:solidFill>
                  <a:srgbClr val="626970"/>
                </a:solidFill>
                <a:latin typeface="DejaVu Sans"/>
              </a:defRPr>
            </a:pPr>
            <a:r>
              <a:t>Blank answers or no error marker remain DRAFT.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384" y="1856231"/>
            <a:ext cx="4956048" cy="3931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0242A"/>
                </a:solidFill>
                <a:latin typeface="DejaVu Sans"/>
              </a:defRPr>
            </a:pPr>
            <a:r>
              <a:t>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01384" y="2551176"/>
            <a:ext cx="4919472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501384" y="2660904"/>
            <a:ext cx="4416552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Demonstration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9376" y="2660904"/>
            <a:ext cx="420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800" b="0">
                <a:solidFill>
                  <a:srgbClr val="3E6485"/>
                </a:solidFill>
                <a:latin typeface="DejaVu Sans"/>
              </a:defRPr>
            </a:pPr>
            <a:r>
              <a:t>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01384" y="3182112"/>
            <a:ext cx="4919472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501384" y="3291840"/>
            <a:ext cx="4416552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Training and experiment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9376" y="3291840"/>
            <a:ext cx="420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800" b="0">
                <a:solidFill>
                  <a:srgbClr val="3E6485"/>
                </a:solidFill>
                <a:latin typeface="DejaVu Sans"/>
              </a:defRPr>
            </a:pPr>
            <a:r>
              <a:t>25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01384" y="3813048"/>
            <a:ext cx="4919472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501384" y="3922776"/>
            <a:ext cx="4416552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Policy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922776"/>
            <a:ext cx="420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800" b="0">
                <a:solidFill>
                  <a:srgbClr val="3E6485"/>
                </a:solidFill>
                <a:latin typeface="DejaVu Sans"/>
              </a:defRPr>
            </a:pPr>
            <a:r>
              <a:t>30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01384" y="4443984"/>
            <a:ext cx="4919472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501384" y="4553712"/>
            <a:ext cx="4416552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20242A"/>
                </a:solidFill>
                <a:latin typeface="DejaVu Sans"/>
              </a:defRPr>
            </a:pPr>
            <a:r>
              <a:t>Failure analysis and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9376" y="4553712"/>
            <a:ext cx="420624" cy="3657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>
              <a:spcAft>
                <a:spcPts val="500"/>
              </a:spcAft>
              <a:defRPr sz="1800" b="0">
                <a:solidFill>
                  <a:srgbClr val="3E6485"/>
                </a:solidFill>
                <a:latin typeface="DejaVu Sans"/>
              </a:defRPr>
            </a:pPr>
            <a:r>
              <a:t>25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01384" y="5093208"/>
            <a:ext cx="4919472" cy="0"/>
          </a:xfrm>
          <a:prstGeom prst="line">
            <a:avLst/>
          </a:prstGeom>
          <a:ln w="10160">
            <a:solidFill>
              <a:srgbClr val="D6D9DC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501384" y="5513832"/>
            <a:ext cx="4919472" cy="6766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0242A"/>
                </a:solidFill>
                <a:latin typeface="DejaVu Sans"/>
              </a:defRPr>
            </a:pPr>
            <a:r>
              <a:t>Success rate does not determine your grade.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Manipulation Learning Lab</dc:title>
  <dc:subject>Introduction to Robotics — Assignment Introduction</dc:subject>
  <dc:creator>Manipulation Learning Lab</dc:creator>
  <cp:keywords>Panda, PickPlaceCan, behavior cloning, assignment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