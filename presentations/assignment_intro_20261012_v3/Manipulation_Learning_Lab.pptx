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页｜30 秒</a:t>
            </a:r>
          </a:p>
          <a:p>
            <a:r>
              <a:t>【0:00–0:30】这次实验，我们让机械臂学会把罐子放进指定格子。先不用记算法名字，先看它到底要完成什么动作。你会看人的示范，训练一个模型，再让机器人自己试。最后，我们一起解释它成功或者失败的原因。</a:t>
            </a:r>
          </a:p>
          <a:p/>
          <a:p>
            <a:r>
              <a:t>来源：</a:t>
            </a:r>
          </a:p>
          <a:p>
            <a:r>
              <a:t>README.md: Overview and Task Description</a:t>
            </a:r>
          </a:p>
          <a:p>
            <a:r>
              <a:t>media_provenance.json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页｜60 秒</a:t>
            </a:r>
          </a:p>
          <a:p>
            <a:r>
              <a:t>【0:30–1:30】点击左边的视频，先完整看一次，播放为半速，共 15 秒。右边是同一次真实学生策略执行的四个时刻：接近、抓住、搬过去、松手。请大家指出哪个格子是目标，想一想最终这样算不算放好了。罐子最后横躺，这在当前任务里可以算成功，不要求它直立。我们分别记录仿真环境的成功标志和更严格的稳定放置：罐子在目标区且有半径余量、夹爪张开不再接触，策略继续运行一秒，物体位移不超过一厘米、速度不超过每秒五厘米。这不是证明任意姿态下整个物体网格完全在格内。</a:t>
            </a:r>
          </a:p>
          <a:p/>
          <a:p>
            <a:r>
              <a:t>来源：</a:t>
            </a:r>
          </a:p>
          <a:p>
            <a:r>
              <a:t>configs/environment.yaml</a:t>
            </a:r>
          </a:p>
          <a:p>
            <a:r>
              <a:t>configs/evaluation.yaml</a:t>
            </a:r>
          </a:p>
          <a:p>
            <a:r>
              <a:t>src/manipulation_lab/evaluation.py: stable_placement</a:t>
            </a:r>
          </a:p>
          <a:p>
            <a:r>
              <a:t>media_provenance.json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页｜70 秒</a:t>
            </a:r>
          </a:p>
          <a:p>
            <a:r>
              <a:t>【1:30–2:40】左边可以点击播放人的示范。这是记录的仿真状态回放，不是学生策略。每一个时刻都同时记下当时的观测和人的下一步动作。中间训练模型，让它在同样观测下预测相近的动作；这条曲线来自已有的真实训练。右边才是让训练好的模型自己运行。执行的时候不是播放预先写好的轨迹，而是观察、行动、再观察，每秒做 20 次。数据共有 200 条完整示范，160 条用来训练、20 条验证并选择保存的模型、20 条保留给测试。不要把同一条轨迹拆进不同集合，也不要按测试成绩反过来挑模型。</a:t>
            </a:r>
          </a:p>
          <a:p/>
          <a:p>
            <a:r>
              <a:t>来源：</a:t>
            </a:r>
          </a:p>
          <a:p>
            <a:r>
              <a:t>README.md: Task Description</a:t>
            </a:r>
          </a:p>
          <a:p>
            <a:r>
              <a:t>src/manipulation_lab/training.py</a:t>
            </a:r>
          </a:p>
          <a:p>
            <a:r>
              <a:t>src/manipulation_lab/evaluation.py</a:t>
            </a:r>
          </a:p>
          <a:p>
            <a:r>
              <a:t>visual_provenance.json: human demonstration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页｜70 秒</a:t>
            </a:r>
          </a:p>
          <a:p>
            <a:r>
              <a:t>【2:40–3:50】看左边的标注：机器人需要知道夹爪在哪里、朝哪个方向，两根手指分别张到哪里，以及罐子在哪里、朝哪个方向。夹爪的位置与姿态 7 个数，两个手指关节位置 2 个数，罐子的位置与姿态 7 个数，共 16 个观测值。右边的输出可以理解成三个问题：往哪移动，怎么转动，夹爪开还是合。一共是三维平移、三维旋转和一个开合命令，共 7 个数。输入是状态值，不是这里展示的视频像素。位置用世界坐标、单位为米，Z 向上；姿态用 xyzw 四元数。输出归一化到负一至一，平移每轴最多五厘米、旋转轴角分量最多半弧度，夹爪正数闭合、负数张开。观测使用训练集统计做归一化，推断时网络权重和统计都固定。</a:t>
            </a:r>
          </a:p>
          <a:p/>
          <a:p>
            <a:r>
              <a:t>来源：</a:t>
            </a:r>
          </a:p>
          <a:p>
            <a:r>
              <a:t>README.md: Task Description</a:t>
            </a:r>
          </a:p>
          <a:p>
            <a:r>
              <a:t>configs/environment.yaml</a:t>
            </a:r>
          </a:p>
          <a:p>
            <a:r>
              <a:t>src/manipulation_lab/common.py: policy_observation</a:t>
            </a:r>
          </a:p>
          <a:p>
            <a:r>
              <a:t>src/manipulation_lab/training.py: training-only normalization</a:t>
            </a:r>
          </a:p>
          <a:p>
            <a:r>
              <a:t>configs/bc_student.json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页｜80 秒</a:t>
            </a:r>
          </a:p>
          <a:p>
            <a:r>
              <a:t>【3:50–5:10】现在把同一个状态交给人和模型，比较它们下一步会怎么动。左图对应 demo_0 的第 40 个记录步，右侧三对横线就是这一观测下人的平移命令与已有学生模型的预测；其他四个分量也在保存的数据里。它们接近但不完全一样，训练就是不断减少这种差距。下面只记住一个式子：把机器人的预测减去人的示范，每个分量平方，再取平均。这就是行为克隆的均方误差。图只展示三个平移分量，真实损失对每批样本的全部七个动作分量取平均，即总平方误差除以 7B。模型是普通前馈网络，三层隐藏层，每层 256 个单元。代码用 Adam 根据误差的梯度更新权重；学习率决定更新步子的大小，Adam 还会根据历史梯度调节方向。这里不推导梯度公式。训练 50 轮，按验证误差最低点保存模型；在这一状态上的动作误差，不等于整个任务的成功率。这个示范状态例子也不是独立的泛化评测。</a:t>
            </a:r>
          </a:p>
          <a:p/>
          <a:p>
            <a:r>
              <a:t>来源：</a:t>
            </a:r>
          </a:p>
          <a:p>
            <a:r>
              <a:t>configs/bc_student.json</a:t>
            </a:r>
          </a:p>
          <a:p>
            <a:r>
              <a:t>src/manipulation_lab/policy.py</a:t>
            </a:r>
          </a:p>
          <a:p>
            <a:r>
              <a:t>src/manipulation_lab/training.py</a:t>
            </a:r>
          </a:p>
          <a:p>
            <a:r>
              <a:t>assets/lr_a_training_log.csv</a:t>
            </a:r>
          </a:p>
          <a:p>
            <a:r>
              <a:t>assets/lr_b_training_log.csv</a:t>
            </a:r>
          </a:p>
          <a:p>
            <a:r>
              <a:t>third_party/robomimic/robomimic/algo/bc.py: nn.MSELoss</a:t>
            </a:r>
          </a:p>
          <a:p>
            <a:r>
              <a:t>third_party/robomimic/robomimic/config/bc_config.py: optimizer_type and loss weights</a:t>
            </a:r>
          </a:p>
          <a:p>
            <a:r>
              <a:t>third_party/robomimic/robomimic/utils/torch_utils.py: Adam optimizer</a:t>
            </a:r>
          </a:p>
          <a:p>
            <a:r>
              <a:t>assets/action_comparison.json</a:t>
            </a:r>
          </a:p>
          <a:p>
            <a:r>
              <a:t>visual_provenance.json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页｜70 秒</a:t>
            </a:r>
          </a:p>
          <a:p>
            <a:r>
              <a:t>【5:10–6:20】大家要做四件事，按四个 notebook 的顺序。第一，看一段人的示范、检查观测与动作，回答 Q1。第二，比较两个学习率 0.001 和 0.0003，回答 Q2、Q3。这一步会训练两次并自动做完评测。数据、模型、初始权重、种子 17、50 轮、批量大小 256 和设备都要保持一致。第三，打开保存的视频与位置图，比较同一批评测案例，回答 Q4，不再重新执行评测。第四，找一次真实失败，至少检查三个控制步，标出最早能被证据支持的错误，回答 Q5 并导出结果。实验和讨论预计 130 到 160 分钟：四部分约 20、50 到 60、40 到 50、20 到 30 分钟，另外留报告整理时间。只改答案时重跑答案和导出单元即可，不要从第一本重新开始。</a:t>
            </a:r>
          </a:p>
          <a:p/>
          <a:p>
            <a:r>
              <a:t>来源：</a:t>
            </a:r>
          </a:p>
          <a:p>
            <a:r>
              <a:t>README.md: Getting Started and Experiments</a:t>
            </a:r>
          </a:p>
          <a:p>
            <a:r>
              <a:t>docs/assignment_student.md</a:t>
            </a:r>
          </a:p>
          <a:p>
            <a:r>
              <a:t>notebooks/01_demonstrations.ipynb</a:t>
            </a:r>
          </a:p>
          <a:p>
            <a:r>
              <a:t>notebooks/02_train_policy.ipynb</a:t>
            </a:r>
          </a:p>
          <a:p>
            <a:r>
              <a:t>notebooks/03_policy_evaluation.ipynb</a:t>
            </a:r>
          </a:p>
          <a:p>
            <a:r>
              <a:t>notebooks/04_failure_analysis.ipynb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页｜80 秒</a:t>
            </a:r>
          </a:p>
          <a:p>
            <a:r>
              <a:t>【6:20–7:40】左边这一对图起点来自同一条示范，种子也一样，只把罐子沿世界 X 轴移动四厘米。请先猜一猜，模型还能完成任务吗？实验为每个模型准备五对这样的起点，共十次执行，两个模型一共二十次。右边的每个点对应一次稳定放置的结果，实心是成功，空心是失败。已有这一组真实实验中，学习率 0.001 分别成功 2/5 和 3/5，0.0003 分别是 5/5 和 5/5。不要把它当作目标成绩，也不能只凭五例断言哪种学习率普遍更好。四厘米的变化可能仍在训练数据覆盖范围内，所以这不是严格认证的分布外评测。主模型 lr_a 在测试前已经固定，不能看完分数再重新选。</a:t>
            </a:r>
          </a:p>
          <a:p/>
          <a:p>
            <a:r>
              <a:t>来源：</a:t>
            </a:r>
          </a:p>
          <a:p>
            <a:r>
              <a:t>configs/controlled_experiment.json</a:t>
            </a:r>
          </a:p>
          <a:p>
            <a:r>
              <a:t>configs/evaluation.yaml</a:t>
            </a:r>
          </a:p>
          <a:p>
            <a:r>
              <a:t>docs/assignment_student.md: Part 3</a:t>
            </a:r>
          </a:p>
          <a:p>
            <a:r>
              <a:t>assets/lr_a_evaluation_summary.json</a:t>
            </a:r>
          </a:p>
          <a:p>
            <a:r>
              <a:t>assets/lr_b_evaluation_summary.json</a:t>
            </a:r>
          </a:p>
          <a:p>
            <a:r>
              <a:t>visual_provenance.json: matched initial-state snapshots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页｜80 秒</a:t>
            </a:r>
          </a:p>
          <a:p>
            <a:r>
              <a:t>【7:40–9:00】这三张图片是同一次真实失败的第 1、41、81 步。先只描述看见了什么：最后夹爪离开了，罐子还留在源箱里。接下来回看中间过程，究竟从哪一步开始可以确定出现了错误？不要把最后一帧当作最早错误，更不要立即把猜测当成原因。用 notebook 的视频、物体和夹爪轨迹、开口宽度与动作命令一起判断，至少检查三个控制步并保存自己的错误标记，再提出一个原因假设和能区分不同解释的实验。视频每四步才保存一帧，请说明请求的状态步和最近视频帧之间的偏差，状态零没有对应帧。原始失败视频保留在课件包里。如果自己的主模型没有失败，可以明确引用老师的参考失败，不能改称自己的模型结果。</a:t>
            </a:r>
          </a:p>
          <a:p/>
          <a:p>
            <a:r>
              <a:t>来源：</a:t>
            </a:r>
          </a:p>
          <a:p>
            <a:r>
              <a:t>notebooks/04_failure_analysis.ipynb</a:t>
            </a:r>
          </a:p>
          <a:p>
            <a:r>
              <a:t>src/manipulation_lab/reporting.py</a:t>
            </a:r>
          </a:p>
          <a:p>
            <a:r>
              <a:t>assets/failure_trace.npz</a:t>
            </a:r>
          </a:p>
          <a:p>
            <a:r>
              <a:t>media_provenance.json</a:t>
            </a:r>
          </a:p>
          <a:p>
            <a:r>
              <a:t>visual_provenance.json: same-action failure re-render through step 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页｜60 秒</a:t>
            </a:r>
          </a:p>
          <a:p>
            <a:r>
              <a:t>【9:00–10:00】最后交两样：一到两页 PDF，用自己的话回答 Q1 到 Q5；以及第四本 notebook 导出的证据 ZIP，里面保留两种模型、配置、日志、视频和失败证据。自动生成的报告只是证据附录，不能替代自己的解释。空答案或者没标错误会保持草稿状态。评分是示范理解 20 分、训练 25 分、评测 30 分、失败分析 25 分。成功率高本身不加分；一次失败，只要实验完整、证据清楚、解释合理，也可以得满分。原始结果请保留到评分结束，不要通过换种子、重复试验挑最好的一次。</a:t>
            </a:r>
          </a:p>
          <a:p/>
          <a:p>
            <a:r>
              <a:t>来源：</a:t>
            </a:r>
          </a:p>
          <a:p>
            <a:r>
              <a:t>README.md: Submission Requirements and Grading Rubric</a:t>
            </a:r>
          </a:p>
          <a:p>
            <a:r>
              <a:t>docs/assignment_student.md: Submission and Detailed Grading</a:t>
            </a:r>
          </a:p>
          <a:p>
            <a:r>
              <a:t>notebooks/04_failure_analysis.ipynb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626B70"/>
                </a:solidFill>
                <a:latin typeface="Source Sans 3"/>
              </a:defRPr>
            </a:pPr>
            <a:r>
              <a:t>Introduction to Robotics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54864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4200" b="0" i="0">
                <a:solidFill>
                  <a:srgbClr val="252C30"/>
                </a:solidFill>
                <a:latin typeface="Source Serif 4"/>
              </a:defRPr>
            </a:pPr>
            <a:r>
              <a:t>Manipulation</a:t>
            </a:r>
          </a:p>
          <a:p>
            <a:pPr>
              <a:spcAft>
                <a:spcPts val="400"/>
              </a:spcAft>
              <a:defRPr sz="4200" b="0" i="0">
                <a:solidFill>
                  <a:srgbClr val="252C30"/>
                </a:solidFill>
                <a:latin typeface="Source Serif 4"/>
              </a:defRPr>
            </a:pPr>
            <a:r>
              <a:t>Learning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8862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600" b="0" i="0">
                <a:solidFill>
                  <a:srgbClr val="3F7085"/>
                </a:solidFill>
                <a:latin typeface="Source Sans 3"/>
              </a:defRPr>
            </a:pPr>
            <a:r>
              <a:t>From Demonstrations</a:t>
            </a:r>
          </a:p>
          <a:p>
            <a:pPr>
              <a:spcAft>
                <a:spcPts val="400"/>
              </a:spcAft>
              <a:defRPr sz="2600" b="0" i="0">
                <a:solidFill>
                  <a:srgbClr val="3F7085"/>
                </a:solidFill>
                <a:latin typeface="Source Sans 3"/>
              </a:defRPr>
            </a:pPr>
            <a:r>
              <a:t>to Robot Policies</a:t>
            </a:r>
          </a:p>
        </p:txBody>
      </p:sp>
      <p:pic>
        <p:nvPicPr>
          <p:cNvPr id="6" name="Picture 5" descr="success_step_089.png"/>
          <p:cNvPicPr>
            <a:picLocks noChangeAspect="1"/>
          </p:cNvPicPr>
          <p:nvPr/>
        </p:nvPicPr>
        <p:blipFill>
          <a:blip r:embed="rId3"/>
          <a:srcRect l="2101" r="2101"/>
          <a:stretch>
            <a:fillRect/>
          </a:stretch>
        </p:blipFill>
        <p:spPr>
          <a:xfrm>
            <a:off x="6355080" y="731520"/>
            <a:ext cx="521208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5806440"/>
            <a:ext cx="51663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 i="0">
                <a:solidFill>
                  <a:srgbClr val="626B70"/>
                </a:solidFill>
                <a:latin typeface="Source Sans 3"/>
              </a:defRPr>
            </a:pPr>
            <a:r>
              <a:t>Learning Robot Manipulation from Demonstrations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0" i="0">
                <a:solidFill>
                  <a:srgbClr val="252C30"/>
                </a:solidFill>
                <a:latin typeface="Source Serif 4"/>
              </a:defRPr>
            </a:pPr>
            <a:r>
              <a:t>Can it put the can away?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 i="0">
                <a:solidFill>
                  <a:srgbClr val="626B70"/>
                </a:solidFill>
                <a:latin typeface="Source Sans 3"/>
              </a:defRPr>
            </a:pPr>
            <a:r>
              <a:t>Panda arm: pick up the can and release it in the marked bin.</a:t>
            </a:r>
          </a:p>
        </p:txBody>
      </p:sp>
      <p:pic>
        <p:nvPicPr>
          <p:cNvPr id="5" name="success_half_spee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0080" y="1435608"/>
            <a:ext cx="44805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089904"/>
            <a:ext cx="4425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 i="0">
                <a:solidFill>
                  <a:srgbClr val="626B70"/>
                </a:solidFill>
                <a:latin typeface="Source Sans 3"/>
              </a:defRPr>
            </a:pPr>
            <a:r>
              <a:t>Click to play · 15 s · half speed</a:t>
            </a:r>
          </a:p>
        </p:txBody>
      </p:sp>
      <p:pic>
        <p:nvPicPr>
          <p:cNvPr id="7" name="Picture 6" descr="success_poster.png"/>
          <p:cNvPicPr>
            <a:picLocks noChangeAspect="1"/>
          </p:cNvPicPr>
          <p:nvPr/>
        </p:nvPicPr>
        <p:blipFill>
          <a:blip r:embed="rId5"/>
          <a:srcRect l="1329" r="1329" t="19000" b="29000"/>
          <a:stretch>
            <a:fillRect/>
          </a:stretch>
        </p:blipFill>
        <p:spPr>
          <a:xfrm>
            <a:off x="5541264" y="1499616"/>
            <a:ext cx="2807208" cy="1499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41264" y="3054096"/>
            <a:ext cx="2807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Reach</a:t>
            </a:r>
          </a:p>
        </p:txBody>
      </p:sp>
      <p:pic>
        <p:nvPicPr>
          <p:cNvPr id="9" name="Picture 8" descr="success_step_041.png"/>
          <p:cNvPicPr>
            <a:picLocks noChangeAspect="1"/>
          </p:cNvPicPr>
          <p:nvPr/>
        </p:nvPicPr>
        <p:blipFill>
          <a:blip r:embed="rId6"/>
          <a:srcRect l="1329" r="1329" t="19000" b="29000"/>
          <a:stretch>
            <a:fillRect/>
          </a:stretch>
        </p:blipFill>
        <p:spPr>
          <a:xfrm>
            <a:off x="8613648" y="1499616"/>
            <a:ext cx="2807208" cy="14996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13648" y="3054096"/>
            <a:ext cx="2807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Grasp</a:t>
            </a:r>
          </a:p>
        </p:txBody>
      </p:sp>
      <p:pic>
        <p:nvPicPr>
          <p:cNvPr id="11" name="Picture 10" descr="success_step_089.png"/>
          <p:cNvPicPr>
            <a:picLocks noChangeAspect="1"/>
          </p:cNvPicPr>
          <p:nvPr/>
        </p:nvPicPr>
        <p:blipFill>
          <a:blip r:embed="rId7"/>
          <a:srcRect l="1329" r="1329" t="19000" b="29000"/>
          <a:stretch>
            <a:fillRect/>
          </a:stretch>
        </p:blipFill>
        <p:spPr>
          <a:xfrm>
            <a:off x="5541264" y="3566159"/>
            <a:ext cx="2807208" cy="1499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41264" y="5120640"/>
            <a:ext cx="2807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Transport</a:t>
            </a:r>
          </a:p>
        </p:txBody>
      </p:sp>
      <p:pic>
        <p:nvPicPr>
          <p:cNvPr id="13" name="Picture 12" descr="success_step_145.png"/>
          <p:cNvPicPr>
            <a:picLocks noChangeAspect="1"/>
          </p:cNvPicPr>
          <p:nvPr/>
        </p:nvPicPr>
        <p:blipFill>
          <a:blip r:embed="rId8"/>
          <a:srcRect l="1329" r="1329" t="19000" b="29000"/>
          <a:stretch>
            <a:fillRect/>
          </a:stretch>
        </p:blipFill>
        <p:spPr>
          <a:xfrm>
            <a:off x="8613648" y="3566159"/>
            <a:ext cx="2807208" cy="1499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13648" y="5120640"/>
            <a:ext cx="2807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5879592"/>
            <a:ext cx="588873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 i="0">
                <a:solidFill>
                  <a:srgbClr val="3F7085"/>
                </a:solidFill>
                <a:latin typeface="Source Sans 3"/>
              </a:defRPr>
            </a:pPr>
            <a:r>
              <a:t>In the target. Released. Stable for 1 second.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6345936"/>
            <a:ext cx="58887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 i="0">
                <a:solidFill>
                  <a:srgbClr val="626B70"/>
                </a:solidFill>
                <a:latin typeface="Source Sans 3"/>
              </a:defRPr>
            </a:pPr>
            <a:r>
              <a:t>Open gripper · no contact · displacement ≤1 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0" i="0">
                <a:solidFill>
                  <a:srgbClr val="252C30"/>
                </a:solidFill>
                <a:latin typeface="Source Serif 4"/>
              </a:defRPr>
            </a:pPr>
            <a:r>
              <a:t>How does it learn?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34440"/>
            <a:ext cx="10853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626B70"/>
                </a:solidFill>
                <a:latin typeface="Source Sans 3"/>
              </a:defRPr>
            </a:pPr>
            <a:r>
              <a:t>A demonstration pairs the current observation with a human’s next action.</a:t>
            </a:r>
          </a:p>
        </p:txBody>
      </p:sp>
      <p:pic>
        <p:nvPicPr>
          <p:cNvPr id="5" name="human_demonstr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0080" y="1874519"/>
            <a:ext cx="3172968" cy="3172968"/>
          </a:xfrm>
          <a:prstGeom prst="rect">
            <a:avLst/>
          </a:prstGeom>
        </p:spPr>
      </p:pic>
      <p:pic>
        <p:nvPicPr>
          <p:cNvPr id="6" name="Picture 5" descr="loss_visu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240280"/>
            <a:ext cx="3456432" cy="2331639"/>
          </a:xfrm>
          <a:prstGeom prst="rect">
            <a:avLst/>
          </a:prstGeom>
        </p:spPr>
      </p:pic>
      <p:pic>
        <p:nvPicPr>
          <p:cNvPr id="7" name="Picture 6" descr="success_step_145.png"/>
          <p:cNvPicPr>
            <a:picLocks noChangeAspect="1"/>
          </p:cNvPicPr>
          <p:nvPr/>
        </p:nvPicPr>
        <p:blipFill>
          <a:blip r:embed="rId7"/>
          <a:srcRect l="25000" t="11000" b="14000"/>
          <a:stretch>
            <a:fillRect/>
          </a:stretch>
        </p:blipFill>
        <p:spPr>
          <a:xfrm>
            <a:off x="8348472" y="1874519"/>
            <a:ext cx="3172968" cy="3172968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3922776" y="3374136"/>
            <a:ext cx="292608" cy="0"/>
          </a:xfrm>
          <a:prstGeom prst="line">
            <a:avLst/>
          </a:prstGeom>
          <a:ln w="22860">
            <a:solidFill>
              <a:srgbClr val="3F7085"/>
            </a:solidFill>
            <a:tailEnd type="triangle" w="sm" len="sm"/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7900416" y="3374136"/>
            <a:ext cx="310896" cy="0"/>
          </a:xfrm>
          <a:prstGeom prst="line">
            <a:avLst/>
          </a:prstGeom>
          <a:ln w="22860">
            <a:solidFill>
              <a:srgbClr val="3F7085"/>
            </a:solidFill>
            <a:tailEnd type="triangle" w="sm" len="sm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40080" y="52578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252C30"/>
                </a:solidFill>
                <a:latin typeface="Source Sans 3"/>
              </a:defRPr>
            </a:pPr>
            <a:r>
              <a:t>Watch a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2578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252C30"/>
                </a:solidFill>
                <a:latin typeface="Source Sans 3"/>
              </a:defRPr>
            </a:pPr>
            <a:r>
              <a:t>Fit a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52578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252C30"/>
                </a:solidFill>
                <a:latin typeface="Source Sans 3"/>
              </a:defRPr>
            </a:pPr>
            <a:r>
              <a:t>Let the robot 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332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 i="0">
                <a:solidFill>
                  <a:srgbClr val="626B70"/>
                </a:solidFill>
                <a:latin typeface="Source Sans 3"/>
              </a:defRPr>
            </a:pPr>
            <a:r>
              <a:t>Demonstration · Click to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7332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 i="0">
                <a:solidFill>
                  <a:srgbClr val="626B70"/>
                </a:solidFill>
                <a:latin typeface="Source Sans 3"/>
              </a:defRPr>
            </a:pPr>
            <a: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57332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 i="0">
                <a:solidFill>
                  <a:srgbClr val="626B70"/>
                </a:solidFill>
                <a:latin typeface="Source Sans 3"/>
              </a:defRPr>
            </a:pPr>
            <a:r>
              <a:t>Inference · 20 actions / second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263640"/>
            <a:ext cx="723290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160 train  /  20 validation  /  20 test demonstrations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0" i="0">
                <a:solidFill>
                  <a:srgbClr val="252C30"/>
                </a:solidFill>
                <a:latin typeface="Source Serif 4"/>
              </a:defRPr>
            </a:pPr>
            <a:r>
              <a:t>What can the policy see?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4</a:t>
            </a:r>
          </a:p>
        </p:txBody>
      </p:sp>
      <p:pic>
        <p:nvPicPr>
          <p:cNvPr id="4" name="Picture 3" descr="demonstration_state.png"/>
          <p:cNvPicPr>
            <a:picLocks noChangeAspect="1"/>
          </p:cNvPicPr>
          <p:nvPr/>
        </p:nvPicPr>
        <p:blipFill>
          <a:blip r:embed="rId3"/>
          <a:srcRect r="5000" t="9768" b="22768"/>
          <a:stretch>
            <a:fillRect/>
          </a:stretch>
        </p:blipFill>
        <p:spPr>
          <a:xfrm>
            <a:off x="640080" y="1536192"/>
            <a:ext cx="6309360" cy="4480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221751" y="3584252"/>
            <a:ext cx="1024128" cy="393192"/>
          </a:xfrm>
          <a:prstGeom prst="ellipse">
            <a:avLst/>
          </a:prstGeom>
          <a:noFill/>
          <a:ln w="1905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764792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 i="1">
                <a:solidFill>
                  <a:srgbClr val="3F7085"/>
                </a:solidFill>
                <a:latin typeface="Source Sans 3"/>
              </a:defRPr>
            </a:pPr>
            <a:r>
              <a:t>Gripper pose</a:t>
            </a:r>
          </a:p>
          <a:p>
            <a:pPr>
              <a:spcAft>
                <a:spcPts val="400"/>
              </a:spcAft>
              <a:defRPr sz="1900" b="0" i="1">
                <a:solidFill>
                  <a:srgbClr val="3F7085"/>
                </a:solidFill>
                <a:latin typeface="Source Sans 3"/>
              </a:defRPr>
            </a:pPr>
            <a:r>
              <a:t>+ finger positions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92807" y="2478024"/>
            <a:ext cx="731280" cy="1023932"/>
          </a:xfrm>
          <a:prstGeom prst="line">
            <a:avLst/>
          </a:prstGeom>
          <a:ln w="16510">
            <a:solidFill>
              <a:srgbClr val="3F7085"/>
            </a:solidFill>
            <a:tailEnd type="triangle" w="sm" len="sm"/>
          </a:ln>
          <a:effectLst/>
        </p:spPr>
      </p:cxnSp>
      <p:sp>
        <p:nvSpPr>
          <p:cNvPr id="8" name="Oval 7"/>
          <p:cNvSpPr/>
          <p:nvPr/>
        </p:nvSpPr>
        <p:spPr>
          <a:xfrm>
            <a:off x="2461976" y="3942492"/>
            <a:ext cx="420624" cy="557784"/>
          </a:xfrm>
          <a:prstGeom prst="ellipse">
            <a:avLst/>
          </a:prstGeom>
          <a:noFill/>
          <a:ln w="19050">
            <a:solidFill>
              <a:srgbClr val="B66C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446227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 i="1">
                <a:solidFill>
                  <a:srgbClr val="B66C49"/>
                </a:solidFill>
                <a:latin typeface="Source Sans 3"/>
              </a:defRPr>
            </a:pPr>
            <a:r>
              <a:t>Can pose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928320" y="4216812"/>
            <a:ext cx="1195624" cy="355188"/>
          </a:xfrm>
          <a:prstGeom prst="line">
            <a:avLst/>
          </a:prstGeom>
          <a:ln w="16510">
            <a:solidFill>
              <a:srgbClr val="B66C49"/>
            </a:solidFill>
            <a:tailEnd type="triangle" w="sm" len="sm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534656" y="1499616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5400" b="0" i="0">
                <a:solidFill>
                  <a:srgbClr val="3F7085"/>
                </a:solidFill>
                <a:latin typeface="Source Serif 4"/>
              </a:defRPr>
            </a:pPr>
            <a: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0375" y="2313432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0" i="0">
                <a:solidFill>
                  <a:srgbClr val="252C30"/>
                </a:solidFill>
                <a:latin typeface="Source Sans 3"/>
              </a:defRPr>
            </a:pPr>
            <a:r>
              <a:t>state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0375" y="2807208"/>
            <a:ext cx="3840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 i="0">
                <a:solidFill>
                  <a:srgbClr val="626B70"/>
                </a:solidFill>
                <a:latin typeface="Source Sans 3"/>
              </a:defRPr>
            </a:pPr>
            <a:r>
              <a:t>Gripper pose (7) + finger joints (2)</a:t>
            </a:r>
          </a:p>
          <a:p>
            <a:pPr>
              <a:spcAft>
                <a:spcPts val="400"/>
              </a:spcAft>
              <a:defRPr sz="1700" b="0" i="0">
                <a:solidFill>
                  <a:srgbClr val="626B70"/>
                </a:solidFill>
                <a:latin typeface="Source Sans 3"/>
              </a:defRPr>
            </a:pPr>
            <a:r>
              <a:t>+ can pose (7)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3547872"/>
            <a:ext cx="3648456" cy="0"/>
          </a:xfrm>
          <a:prstGeom prst="line">
            <a:avLst/>
          </a:prstGeom>
          <a:ln w="12700">
            <a:solidFill>
              <a:srgbClr val="D6DBD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534656" y="37033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5400" b="0" i="0">
                <a:solidFill>
                  <a:srgbClr val="B66C49"/>
                </a:solidFill>
                <a:latin typeface="Source Serif 4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5" y="451713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0" i="0">
                <a:solidFill>
                  <a:srgbClr val="252C30"/>
                </a:solidFill>
                <a:latin typeface="Source Sans 3"/>
              </a:defRPr>
            </a:pPr>
            <a:r>
              <a:t>commands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5" y="5111496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 i="0">
                <a:solidFill>
                  <a:srgbClr val="626B70"/>
                </a:solidFill>
                <a:latin typeface="Source Sans 3"/>
              </a:defRPr>
            </a:pPr>
            <a:r>
              <a:t>3 translation + 3 rotation + 1 gripper</a:t>
            </a:r>
          </a:p>
          <a:p>
            <a:pPr>
              <a:spcAft>
                <a:spcPts val="400"/>
              </a:spcAft>
              <a:defRPr sz="1700" b="0" i="0">
                <a:solidFill>
                  <a:srgbClr val="626B70"/>
                </a:solidFill>
                <a:latin typeface="Source Sans 3"/>
              </a:defRPr>
            </a:pPr>
            <a:r>
              <a:t>Normalized commands in [−1,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6144768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626B70"/>
                </a:solidFill>
                <a:latin typeface="Source Sans 3"/>
              </a:defRPr>
            </a:pPr>
            <a:r>
              <a:t>A fresh observation, 20 times per second.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0" i="0">
                <a:solidFill>
                  <a:srgbClr val="252C30"/>
                </a:solidFill>
                <a:latin typeface="Source Serif 4"/>
              </a:defRPr>
            </a:pPr>
            <a:r>
              <a:t>Learn to match the next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853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626B70"/>
                </a:solidFill>
                <a:latin typeface="Source Sans 3"/>
              </a:defRPr>
            </a:pPr>
            <a:r>
              <a:t>Behavior cloning trains a neural network to predict the human’s next action.</a:t>
            </a:r>
          </a:p>
        </p:txBody>
      </p:sp>
      <p:pic>
        <p:nvPicPr>
          <p:cNvPr id="5" name="Picture 4" descr="demonstration_state.png"/>
          <p:cNvPicPr>
            <a:picLocks noChangeAspect="1"/>
          </p:cNvPicPr>
          <p:nvPr/>
        </p:nvPicPr>
        <p:blipFill>
          <a:blip r:embed="rId3"/>
          <a:srcRect r="33000" t="20309" b="31309"/>
          <a:stretch>
            <a:fillRect/>
          </a:stretch>
        </p:blipFill>
        <p:spPr>
          <a:xfrm>
            <a:off x="685800" y="1783080"/>
            <a:ext cx="4343400" cy="3136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5102352"/>
            <a:ext cx="432511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0" i="0">
                <a:solidFill>
                  <a:srgbClr val="252C30"/>
                </a:solidFill>
                <a:latin typeface="Source Sans 3"/>
              </a:defRPr>
            </a:pPr>
            <a:r>
              <a:t>The same 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532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Three hidden layers × 256 units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20640" y="3374136"/>
            <a:ext cx="493776" cy="0"/>
          </a:xfrm>
          <a:prstGeom prst="line">
            <a:avLst/>
          </a:prstGeom>
          <a:ln w="24130">
            <a:solidFill>
              <a:srgbClr val="3F7085"/>
            </a:solidFill>
            <a:tailEnd type="triangle" w="sm" len="sm"/>
          </a:ln>
          <a:effectLst/>
        </p:spPr>
      </p:cxnSp>
      <p:pic>
        <p:nvPicPr>
          <p:cNvPr id="9" name="Picture 8" descr="action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764792"/>
            <a:ext cx="5760720" cy="3685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4144" y="5522976"/>
            <a:ext cx="5760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Adam updates weights; validation selects the model.</a:t>
            </a:r>
          </a:p>
        </p:txBody>
      </p:sp>
      <p:pic>
        <p:nvPicPr>
          <p:cNvPr id="11" name="Picture 10" descr="bc_equ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897880"/>
            <a:ext cx="5806440" cy="6677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50024" y="5961888"/>
            <a:ext cx="44348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 i="0">
                <a:solidFill>
                  <a:srgbClr val="626B70"/>
                </a:solidFill>
                <a:latin typeface="Source Sans 3"/>
              </a:defRPr>
            </a:pPr>
            <a:r>
              <a:t>Average squared error across samples</a:t>
            </a:r>
          </a:p>
          <a:p>
            <a:pPr>
              <a:spcAft>
                <a:spcPts val="400"/>
              </a:spcAft>
              <a:defRPr sz="1700" b="0" i="0">
                <a:solidFill>
                  <a:srgbClr val="626B70"/>
                </a:solidFill>
                <a:latin typeface="Source Sans 3"/>
              </a:defRPr>
            </a:pPr>
            <a:r>
              <a:t>and all 7 action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0" i="0">
                <a:solidFill>
                  <a:srgbClr val="252C30"/>
                </a:solidFill>
                <a:latin typeface="Source Serif 4"/>
              </a:defRPr>
            </a:pPr>
            <a:r>
              <a:t>Four things to 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6</a:t>
            </a:r>
          </a:p>
        </p:txBody>
      </p:sp>
      <p:pic>
        <p:nvPicPr>
          <p:cNvPr id="4" name="Picture 3" descr="human_poster.png"/>
          <p:cNvPicPr>
            <a:picLocks noChangeAspect="1"/>
          </p:cNvPicPr>
          <p:nvPr/>
        </p:nvPicPr>
        <p:blipFill>
          <a:blip r:embed="rId3"/>
          <a:srcRect t="9379" b="16379"/>
          <a:stretch>
            <a:fillRect/>
          </a:stretch>
        </p:blipFill>
        <p:spPr>
          <a:xfrm>
            <a:off x="685800" y="1737360"/>
            <a:ext cx="2414016" cy="1792224"/>
          </a:xfrm>
          <a:prstGeom prst="rect">
            <a:avLst/>
          </a:prstGeom>
        </p:spPr>
      </p:pic>
      <p:pic>
        <p:nvPicPr>
          <p:cNvPr id="5" name="Picture 4" descr="failure_hd_081.png"/>
          <p:cNvPicPr>
            <a:picLocks noChangeAspect="1"/>
          </p:cNvPicPr>
          <p:nvPr/>
        </p:nvPicPr>
        <p:blipFill>
          <a:blip r:embed="rId4"/>
          <a:srcRect t="9379" b="16379"/>
          <a:stretch>
            <a:fillRect/>
          </a:stretch>
        </p:blipFill>
        <p:spPr>
          <a:xfrm>
            <a:off x="6574536" y="4087368"/>
            <a:ext cx="2414016" cy="1792224"/>
          </a:xfrm>
          <a:prstGeom prst="rect">
            <a:avLst/>
          </a:prstGeom>
        </p:spPr>
      </p:pic>
      <p:pic>
        <p:nvPicPr>
          <p:cNvPr id="6" name="Picture 5" descr="loss_vis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737360"/>
            <a:ext cx="2633472" cy="1773936"/>
          </a:xfrm>
          <a:prstGeom prst="rect">
            <a:avLst/>
          </a:prstGeom>
        </p:spPr>
      </p:pic>
      <p:pic>
        <p:nvPicPr>
          <p:cNvPr id="7" name="Picture 6" descr="positions_visu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4096512"/>
            <a:ext cx="2679192" cy="1801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00984" y="1892807"/>
            <a:ext cx="22128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3F7085"/>
                </a:solidFill>
                <a:latin typeface="Source Sans 3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984" y="2359152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0" i="0">
                <a:solidFill>
                  <a:srgbClr val="252C30"/>
                </a:solidFill>
                <a:latin typeface="Source Serif 4"/>
              </a:defRPr>
            </a:pPr>
            <a:r>
              <a:t>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984" y="2935224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Inspect observations and actions. 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1892807"/>
            <a:ext cx="22128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3F7085"/>
                </a:solidFill>
                <a:latin typeface="Source Sans 3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359152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0" i="0">
                <a:solidFill>
                  <a:srgbClr val="252C30"/>
                </a:solidFill>
                <a:latin typeface="Source Serif 4"/>
              </a:defRPr>
            </a:pPr>
            <a:r>
              <a:t>Train twice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935224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Save both models and curves. Q2–Q3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4343400"/>
            <a:ext cx="22128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3F7085"/>
                </a:solidFill>
                <a:latin typeface="Source Sans 3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4" y="4809744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0" i="0">
                <a:solidFill>
                  <a:srgbClr val="252C30"/>
                </a:solidFill>
                <a:latin typeface="Source Serif 4"/>
              </a:defRPr>
            </a:pPr>
            <a: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5385816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Use the same test cases. 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4343400"/>
            <a:ext cx="22128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3F7085"/>
                </a:solidFill>
                <a:latin typeface="Source Sans 3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4809744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0" i="0">
                <a:solidFill>
                  <a:srgbClr val="252C30"/>
                </a:solidFill>
                <a:latin typeface="Source Serif 4"/>
              </a:defRPr>
            </a:pPr>
            <a: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5385816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Inspect at least 3 steps. 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6144768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 i="0">
                <a:solidFill>
                  <a:srgbClr val="3F7085"/>
                </a:solidFill>
                <a:latin typeface="Source Sans 3"/>
              </a:defRPr>
            </a:pPr>
            <a:r>
              <a:t>Change only the learning rate: 0.001 or 0.0003.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473952"/>
            <a:ext cx="10332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0" i="0">
                <a:solidFill>
                  <a:srgbClr val="626B70"/>
                </a:solidFill>
                <a:latin typeface="Source Sans 3"/>
              </a:defRPr>
            </a:pPr>
            <a:r>
              <a:t>Fixed data, model, initialization, seed 17, 50 epochs, batch size 256 and 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0" i="0">
                <a:solidFill>
                  <a:srgbClr val="252C30"/>
                </a:solidFill>
                <a:latin typeface="Source Serif 4"/>
              </a:defRPr>
            </a:pPr>
            <a:r>
              <a:t>Move the can. What changes?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853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626B70"/>
                </a:solidFill>
                <a:latin typeface="Source Sans 3"/>
              </a:defRPr>
            </a:pPr>
            <a:r>
              <a:t>Shift only the can; pair the source episode and random seed.</a:t>
            </a:r>
          </a:p>
        </p:txBody>
      </p:sp>
      <p:pic>
        <p:nvPicPr>
          <p:cNvPr id="5" name="Picture 4" descr="standard_start.png"/>
          <p:cNvPicPr>
            <a:picLocks noChangeAspect="1"/>
          </p:cNvPicPr>
          <p:nvPr/>
        </p:nvPicPr>
        <p:blipFill>
          <a:blip r:embed="rId3"/>
          <a:srcRect l="2593" r="33593" t="17000" b="17000"/>
          <a:stretch>
            <a:fillRect/>
          </a:stretch>
        </p:blipFill>
        <p:spPr>
          <a:xfrm>
            <a:off x="667512" y="1929384"/>
            <a:ext cx="2935224" cy="303580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308163" y="2888320"/>
            <a:ext cx="420624" cy="585216"/>
          </a:xfrm>
          <a:prstGeom prst="ellipse">
            <a:avLst/>
          </a:prstGeom>
          <a:noFill/>
          <a:ln w="1905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16636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Standard</a:t>
            </a:r>
          </a:p>
        </p:txBody>
      </p:sp>
      <p:pic>
        <p:nvPicPr>
          <p:cNvPr id="8" name="Picture 7" descr="shifted_start.png"/>
          <p:cNvPicPr>
            <a:picLocks noChangeAspect="1"/>
          </p:cNvPicPr>
          <p:nvPr/>
        </p:nvPicPr>
        <p:blipFill>
          <a:blip r:embed="rId4"/>
          <a:srcRect l="2593" r="33593" t="17000" b="17000"/>
          <a:stretch>
            <a:fillRect/>
          </a:stretch>
        </p:blipFill>
        <p:spPr>
          <a:xfrm>
            <a:off x="3831335" y="1929384"/>
            <a:ext cx="2935224" cy="303580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436052" y="3008104"/>
            <a:ext cx="420624" cy="585216"/>
          </a:xfrm>
          <a:prstGeom prst="ellipse">
            <a:avLst/>
          </a:prstGeom>
          <a:noFill/>
          <a:ln w="19050">
            <a:solidFill>
              <a:srgbClr val="B66C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31335" y="516636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+4 cm in world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97880"/>
            <a:ext cx="61447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0" i="0">
                <a:solidFill>
                  <a:srgbClr val="626B70"/>
                </a:solidFill>
                <a:latin typeface="Source Sans 3"/>
              </a:defRPr>
            </a:pPr>
            <a:r>
              <a:t>Five matched starts per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64224"/>
            <a:ext cx="6144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 i="0">
                <a:solidFill>
                  <a:srgbClr val="626B70"/>
                </a:solidFill>
                <a:latin typeface="Source Sans 3"/>
              </a:defRPr>
            </a:pPr>
            <a:r>
              <a:t>Not a certified out-of-distribution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1664208"/>
            <a:ext cx="4087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252C30"/>
                </a:solidFill>
                <a:latin typeface="Source Serif 4"/>
              </a:defRPr>
            </a:pPr>
            <a:r>
              <a:t>Stable placements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276856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2276856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Shifted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2843784"/>
            <a:ext cx="41056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252C30"/>
                </a:solidFill>
                <a:latin typeface="Source Sans 3"/>
              </a:defRPr>
            </a:pPr>
            <a:r>
              <a:t>Learning rate 0.001</a:t>
            </a:r>
          </a:p>
        </p:txBody>
      </p:sp>
      <p:sp>
        <p:nvSpPr>
          <p:cNvPr id="17" name="Oval 16"/>
          <p:cNvSpPr/>
          <p:nvPr/>
        </p:nvSpPr>
        <p:spPr>
          <a:xfrm>
            <a:off x="7516368" y="3419856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08976" y="3419856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01584" y="3419856"/>
            <a:ext cx="182880" cy="182880"/>
          </a:xfrm>
          <a:prstGeom prst="ellipse">
            <a:avLst/>
          </a:prstGeom>
          <a:solidFill>
            <a:srgbClr val="FCFBF8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94192" y="3419856"/>
            <a:ext cx="182880" cy="182880"/>
          </a:xfrm>
          <a:prstGeom prst="ellipse">
            <a:avLst/>
          </a:prstGeom>
          <a:solidFill>
            <a:srgbClr val="FCFBF8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0" y="3419856"/>
            <a:ext cx="182880" cy="182880"/>
          </a:xfrm>
          <a:prstGeom prst="ellipse">
            <a:avLst/>
          </a:prstGeom>
          <a:solidFill>
            <a:srgbClr val="FCFBF8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3767328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2/5</a:t>
            </a:r>
          </a:p>
        </p:txBody>
      </p:sp>
      <p:sp>
        <p:nvSpPr>
          <p:cNvPr id="23" name="Oval 22"/>
          <p:cNvSpPr/>
          <p:nvPr/>
        </p:nvSpPr>
        <p:spPr>
          <a:xfrm>
            <a:off x="9738360" y="3419856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30968" y="3419856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23576" y="3419856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16184" y="3419856"/>
            <a:ext cx="182880" cy="182880"/>
          </a:xfrm>
          <a:prstGeom prst="ellipse">
            <a:avLst/>
          </a:prstGeom>
          <a:solidFill>
            <a:srgbClr val="FCFBF8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08792" y="3419856"/>
            <a:ext cx="182880" cy="182880"/>
          </a:xfrm>
          <a:prstGeom prst="ellipse">
            <a:avLst/>
          </a:prstGeom>
          <a:solidFill>
            <a:srgbClr val="FCFBF8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3767328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3/5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4178807"/>
            <a:ext cx="41056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252C30"/>
                </a:solidFill>
                <a:latin typeface="Source Sans 3"/>
              </a:defRPr>
            </a:pPr>
            <a:r>
              <a:t>Learning rate 0.0003</a:t>
            </a:r>
          </a:p>
        </p:txBody>
      </p:sp>
      <p:sp>
        <p:nvSpPr>
          <p:cNvPr id="30" name="Oval 29"/>
          <p:cNvSpPr/>
          <p:nvPr/>
        </p:nvSpPr>
        <p:spPr>
          <a:xfrm>
            <a:off x="7516368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08976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01584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94192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0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5102352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5/5</a:t>
            </a:r>
          </a:p>
        </p:txBody>
      </p:sp>
      <p:sp>
        <p:nvSpPr>
          <p:cNvPr id="36" name="Oval 35"/>
          <p:cNvSpPr/>
          <p:nvPr/>
        </p:nvSpPr>
        <p:spPr>
          <a:xfrm>
            <a:off x="9738360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30968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23576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16184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08792" y="4754879"/>
            <a:ext cx="182880" cy="182880"/>
          </a:xfrm>
          <a:prstGeom prst="ellipse">
            <a:avLst/>
          </a:prstGeom>
          <a:solidFill>
            <a:srgbClr val="3F7085"/>
          </a:solidFill>
          <a:ln w="1524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5102352"/>
            <a:ext cx="16733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626B70"/>
                </a:solidFill>
                <a:latin typeface="Source Sans 3"/>
              </a:defRPr>
            </a:pPr>
            <a:r>
              <a:t>5/5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352" y="5916168"/>
            <a:ext cx="4160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 i="0">
                <a:solidFill>
                  <a:srgbClr val="626B70"/>
                </a:solidFill>
                <a:latin typeface="Source Sans 3"/>
              </a:defRPr>
            </a:pPr>
            <a:r>
              <a:t>One completed example; five cases are a coarse estimate.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0" i="0">
                <a:solidFill>
                  <a:srgbClr val="252C30"/>
                </a:solidFill>
                <a:latin typeface="Source Serif 4"/>
              </a:defRPr>
            </a:pPr>
            <a:r>
              <a:t>Where does it go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225296"/>
            <a:ext cx="10853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626B70"/>
                </a:solidFill>
                <a:latin typeface="Source Sans 3"/>
              </a:defRPr>
            </a:pPr>
            <a:r>
              <a:t>Use frames and state logs to separate the observed error from a possible cause.</a:t>
            </a:r>
          </a:p>
        </p:txBody>
      </p:sp>
      <p:pic>
        <p:nvPicPr>
          <p:cNvPr id="5" name="Picture 4" descr="failure_hd_001.png"/>
          <p:cNvPicPr>
            <a:picLocks noChangeAspect="1"/>
          </p:cNvPicPr>
          <p:nvPr/>
        </p:nvPicPr>
        <p:blipFill>
          <a:blip r:embed="rId3"/>
          <a:srcRect r="36000" t="14323" b="23323"/>
          <a:stretch>
            <a:fillRect/>
          </a:stretch>
        </p:blipFill>
        <p:spPr>
          <a:xfrm>
            <a:off x="658368" y="1773936"/>
            <a:ext cx="3557016" cy="3465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413248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 i="0">
                <a:solidFill>
                  <a:srgbClr val="252C30"/>
                </a:solidFill>
                <a:latin typeface="Source Sans 3"/>
              </a:defRPr>
            </a:pPr>
            <a:r>
              <a:t>Step 1</a:t>
            </a:r>
          </a:p>
        </p:txBody>
      </p:sp>
      <p:pic>
        <p:nvPicPr>
          <p:cNvPr id="7" name="Picture 6" descr="failure_hd_041.png"/>
          <p:cNvPicPr>
            <a:picLocks noChangeAspect="1"/>
          </p:cNvPicPr>
          <p:nvPr/>
        </p:nvPicPr>
        <p:blipFill>
          <a:blip r:embed="rId4"/>
          <a:srcRect r="36000" t="14323" b="23323"/>
          <a:stretch>
            <a:fillRect/>
          </a:stretch>
        </p:blipFill>
        <p:spPr>
          <a:xfrm>
            <a:off x="4498848" y="1773936"/>
            <a:ext cx="3557016" cy="34655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98848" y="5413248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 i="0">
                <a:solidFill>
                  <a:srgbClr val="252C30"/>
                </a:solidFill>
                <a:latin typeface="Source Sans 3"/>
              </a:defRPr>
            </a:pPr>
            <a:r>
              <a:t>Step 41</a:t>
            </a:r>
          </a:p>
        </p:txBody>
      </p:sp>
      <p:pic>
        <p:nvPicPr>
          <p:cNvPr id="9" name="Picture 8" descr="failure_hd_081.png"/>
          <p:cNvPicPr>
            <a:picLocks noChangeAspect="1"/>
          </p:cNvPicPr>
          <p:nvPr/>
        </p:nvPicPr>
        <p:blipFill>
          <a:blip r:embed="rId5"/>
          <a:srcRect r="36000" t="14323" b="23323"/>
          <a:stretch>
            <a:fillRect/>
          </a:stretch>
        </p:blipFill>
        <p:spPr>
          <a:xfrm>
            <a:off x="8339328" y="1773936"/>
            <a:ext cx="3557016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39328" y="5413248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 i="0">
                <a:solidFill>
                  <a:srgbClr val="252C30"/>
                </a:solidFill>
                <a:latin typeface="Source Sans 3"/>
              </a:defRPr>
            </a:pPr>
            <a:r>
              <a:t>Step 81</a:t>
            </a:r>
          </a:p>
        </p:txBody>
      </p:sp>
      <p:sp>
        <p:nvSpPr>
          <p:cNvPr id="11" name="Oval 10"/>
          <p:cNvSpPr/>
          <p:nvPr/>
        </p:nvSpPr>
        <p:spPr>
          <a:xfrm>
            <a:off x="9365718" y="3501186"/>
            <a:ext cx="566928" cy="438912"/>
          </a:xfrm>
          <a:prstGeom prst="ellipse">
            <a:avLst/>
          </a:prstGeom>
          <a:noFill/>
          <a:ln w="25400">
            <a:solidFill>
              <a:srgbClr val="B66C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2029968"/>
            <a:ext cx="22860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0" i="1">
                <a:solidFill>
                  <a:srgbClr val="B66C49"/>
                </a:solidFill>
                <a:latin typeface="Source Sans 3"/>
              </a:defRPr>
            </a:pPr>
            <a:r>
              <a:t>Still here.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0" y="2514600"/>
            <a:ext cx="139422" cy="931722"/>
          </a:xfrm>
          <a:prstGeom prst="line">
            <a:avLst/>
          </a:prstGeom>
          <a:ln w="17780">
            <a:solidFill>
              <a:srgbClr val="B66C49"/>
            </a:solidFill>
            <a:tailEnd type="triangle" w="sm" len="sm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76656" y="6099048"/>
            <a:ext cx="1080820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 i="0">
                <a:solidFill>
                  <a:srgbClr val="3F7085"/>
                </a:solidFill>
                <a:latin typeface="Source Sans 3"/>
              </a:defRPr>
            </a:pPr>
            <a:r>
              <a:t>Inspect ≥3 steps, mark the first observable error, then propose a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400" b="0" i="0">
                <a:solidFill>
                  <a:srgbClr val="252C30"/>
                </a:solidFill>
                <a:latin typeface="Source Serif 4"/>
              </a:defRPr>
            </a:pPr>
            <a:r>
              <a:t>What to hand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 i="0">
                <a:solidFill>
                  <a:srgbClr val="626B70"/>
                </a:solidFill>
                <a:latin typeface="Source Sans 3"/>
              </a:defRPr>
            </a:pPr>
            <a: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1152144" cy="1508760"/>
          </a:xfrm>
          <a:prstGeom prst="rect">
            <a:avLst/>
          </a:prstGeom>
          <a:noFill/>
          <a:ln w="1905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25296" y="2185416"/>
            <a:ext cx="694944" cy="0"/>
          </a:xfrm>
          <a:prstGeom prst="line">
            <a:avLst/>
          </a:prstGeom>
          <a:ln w="15240">
            <a:solidFill>
              <a:srgbClr val="D6DBDA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1225296" y="2423160"/>
            <a:ext cx="694944" cy="0"/>
          </a:xfrm>
          <a:prstGeom prst="line">
            <a:avLst/>
          </a:prstGeom>
          <a:ln w="15240">
            <a:solidFill>
              <a:srgbClr val="D6DBD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225296" y="2660904"/>
            <a:ext cx="530352" cy="0"/>
          </a:xfrm>
          <a:prstGeom prst="line">
            <a:avLst/>
          </a:prstGeom>
          <a:ln w="15240">
            <a:solidFill>
              <a:srgbClr val="D6DBD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2523744" y="1938528"/>
            <a:ext cx="33284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600" b="0" i="0">
                <a:solidFill>
                  <a:srgbClr val="252C30"/>
                </a:solidFill>
                <a:latin typeface="Source Serif 4"/>
              </a:defRPr>
            </a:pPr>
            <a:r>
              <a:t>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2734056"/>
            <a:ext cx="35753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0" i="0">
                <a:solidFill>
                  <a:srgbClr val="252C30"/>
                </a:solidFill>
                <a:latin typeface="Source Sans 3"/>
              </a:defRPr>
            </a:pPr>
            <a:r>
              <a:t>1–2 pages · Q1–Q5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737360"/>
            <a:ext cx="1152144" cy="1508760"/>
          </a:xfrm>
          <a:prstGeom prst="rect">
            <a:avLst/>
          </a:prstGeom>
          <a:noFill/>
          <a:ln w="19050">
            <a:solidFill>
              <a:srgbClr val="3F70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729984" y="2185416"/>
            <a:ext cx="694944" cy="0"/>
          </a:xfrm>
          <a:prstGeom prst="line">
            <a:avLst/>
          </a:prstGeom>
          <a:ln w="15240">
            <a:solidFill>
              <a:srgbClr val="D6DBDA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729984" y="2423160"/>
            <a:ext cx="694944" cy="0"/>
          </a:xfrm>
          <a:prstGeom prst="line">
            <a:avLst/>
          </a:prstGeom>
          <a:ln w="15240">
            <a:solidFill>
              <a:srgbClr val="D6DBDA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6729984" y="2660904"/>
            <a:ext cx="530352" cy="0"/>
          </a:xfrm>
          <a:prstGeom prst="line">
            <a:avLst/>
          </a:prstGeom>
          <a:ln w="15240">
            <a:solidFill>
              <a:srgbClr val="D6DBDA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8028431" y="1938528"/>
            <a:ext cx="33284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600" b="0" i="0">
                <a:solidFill>
                  <a:srgbClr val="252C30"/>
                </a:solidFill>
                <a:latin typeface="Source Serif 4"/>
              </a:defRPr>
            </a:pPr>
            <a:r>
              <a:t>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734056"/>
            <a:ext cx="35753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0" i="0">
                <a:solidFill>
                  <a:srgbClr val="252C30"/>
                </a:solidFill>
                <a:latin typeface="Source Sans 3"/>
              </a:defRPr>
            </a:pPr>
            <a:r>
              <a:t>Both models · videos ·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626B70"/>
                </a:solidFill>
                <a:latin typeface="Source Sans 3"/>
              </a:defRPr>
            </a:pPr>
            <a:r>
              <a:t>Export the ZIP from Notebook 04. The generated report is an evidence appendix.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502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252C30"/>
                </a:solidFill>
                <a:latin typeface="Source Serif 4"/>
              </a:defRPr>
            </a:pPr>
            <a:r>
              <a:t>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08576"/>
            <a:ext cx="228600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900" b="0" i="0">
                <a:solidFill>
                  <a:srgbClr val="3F7085"/>
                </a:solidFill>
                <a:latin typeface="Source Serif 4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041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Demonstrations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4608576"/>
            <a:ext cx="228600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900" b="0" i="0">
                <a:solidFill>
                  <a:srgbClr val="3F7085"/>
                </a:solidFill>
                <a:latin typeface="Source Serif 4"/>
              </a:defRPr>
            </a:pPr>
            <a: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54041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608576"/>
            <a:ext cx="228600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900" b="0" i="0">
                <a:solidFill>
                  <a:srgbClr val="3F7085"/>
                </a:solidFill>
                <a:latin typeface="Source Serif 4"/>
              </a:defRPr>
            </a:pPr>
            <a: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54041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4608576"/>
            <a:ext cx="228600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900" b="0" i="0">
                <a:solidFill>
                  <a:srgbClr val="3F7085"/>
                </a:solidFill>
                <a:latin typeface="Source Serif 4"/>
              </a:defRPr>
            </a:pPr>
            <a:r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54041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 i="0">
                <a:solidFill>
                  <a:srgbClr val="252C30"/>
                </a:solidFill>
                <a:latin typeface="Source Sans 3"/>
              </a:defRPr>
            </a:pPr>
            <a:r>
              <a:t>Failure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63056"/>
            <a:ext cx="107899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 i="0">
                <a:solidFill>
                  <a:srgbClr val="252C30"/>
                </a:solidFill>
                <a:latin typeface="Source Sans 3"/>
              </a:defRPr>
            </a:pPr>
            <a:r>
              <a:t>A well-explained failure can earn full credit.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Manipulation Learning Lab</dc:title>
  <dc:subject>Introduction to Robotics — visual assignment introduction</dc:subject>
  <dc:creator>Manipulation Learning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