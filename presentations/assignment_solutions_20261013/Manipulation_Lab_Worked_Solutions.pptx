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页｜建议 35 秒</a:t>
            </a:r>
          </a:p>
          <a:p>
            <a:r>
              <a:t>这份题解沿着四份 Notebook 的数据流讲解五道问题。所有数字来自本次真实执行：先检查示教数据，再训练两种学习率，最后进行二十次闭环仿真。请强调这是一份有完整证据的参考解答，不是要求每位学生取得相同成功率。学生要学会解释输入输出、控制变量、结果与原因之间的界限。</a:t>
            </a:r>
          </a:p>
          <a:p/>
          <a:p>
            <a:r>
              <a:t>证据来源：</a:t>
            </a:r>
          </a:p>
          <a:p>
            <a:r>
              <a:t>evidence/experiment.json</a:t>
            </a:r>
          </a:p>
          <a:p>
            <a:r>
              <a:t>results.json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页｜建议 60 秒</a:t>
            </a:r>
          </a:p>
          <a:p>
            <a:r>
              <a:t>先播放本次主要策略 lr_a 的真实成功视频。机器人需要抓取、搬运、松开并稳定放置，不能把抬起来等同于任务完成。环境成功是执行期间曾满足环境标志；稳定放置还要求目标区域、开口至少五点五厘米、无夹爪接触，继续执行策略一秒，位移不超过一厘米、速度不超过每秒五厘米。这里是持续运行同一个策略，不是人为把物体静止下来。</a:t>
            </a:r>
          </a:p>
          <a:p/>
          <a:p>
            <a:r>
              <a:t>证据来源：</a:t>
            </a:r>
          </a:p>
          <a:p>
            <a:r>
              <a:t>assets/success.mp4</a:t>
            </a:r>
          </a:p>
          <a:p>
            <a:r>
              <a:t>evidence/evaluation_config.json</a:t>
            </a:r>
          </a:p>
          <a:p>
            <a:r>
              <a:t>src/manipulation_lab/evaluation.py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页｜建议 60 秒</a:t>
            </a:r>
          </a:p>
          <a:p>
            <a:r>
              <a:t>观测是决策时已知的状态，动作是下一步给控制器的命令。逐项相加：末端位置三维、四元数四维、夹爪两个关节位置两维、罐子位置三维、四元数四维，共十六维。位置使用世界坐标系和米，Z 轴向上；四元数顺序是 xyzw。原始物体向量十四维不等于策略使用十四维；当前适配器仅取 object[7:14] 的世界位姿，训练和执行时一致。夹爪两个关节位置是两维观测，不意味着两个独立策略动作。</a:t>
            </a:r>
          </a:p>
          <a:p/>
          <a:p>
            <a:r>
              <a:t>证据来源：</a:t>
            </a:r>
          </a:p>
          <a:p>
            <a:r>
              <a:t>notebooks/01_demonstrations.ipynb</a:t>
            </a:r>
          </a:p>
          <a:p>
            <a:r>
              <a:t>src/manipulation_lab/common.py</a:t>
            </a:r>
          </a:p>
          <a:p>
            <a:r>
              <a:t>evidence/dataset_inspection.json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页｜建议 60 秒</a:t>
            </a:r>
          </a:p>
          <a:p>
            <a:r>
              <a:t>动作七维分为三个平移增量、三个轴角旋转增量和一个夹爪命令。每维是归一化命令，不可直接把零点一解释成零点一米。平移缩放上限为五厘米，旋转为零点五弧度；例如平移命令零点二对应控制器请求的一厘米增量，实际末端运动仍受控制器和物理约束影响。夹爪命令正值闭合、负值张开；两个手指关节由同一个开合动作驱动。二十赫兹意味着每步五十毫秒，步号不是采集时间戳。</a:t>
            </a:r>
          </a:p>
          <a:p/>
          <a:p>
            <a:r>
              <a:t>证据来源：</a:t>
            </a:r>
          </a:p>
          <a:p>
            <a:r>
              <a:t>configs/environment.yaml</a:t>
            </a:r>
          </a:p>
          <a:p>
            <a:r>
              <a:t>notebooks/01_demonstrations.ipynb</a:t>
            </a:r>
          </a:p>
          <a:p>
            <a:r>
              <a:t>src/manipulation_lab/simulator.py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页｜建议 45 秒</a:t>
            </a:r>
          </a:p>
          <a:p>
            <a:r>
              <a:t>这里展示同一条真实人类示教 demo_0 的开始、中间和结束画面。最终照片只能说明某个时刻的状态，不能说明何时闭合、抬升之前是否抓稳、何时释放，或者动作和下一时刻状态的因果顺序。完整轨迹提供观测与专家动作的配对，BC 才能学习状态到动作的映射。示教回放恢复记录的模拟器状态，不是当前学习策略运行成功的证据。</a:t>
            </a:r>
          </a:p>
          <a:p/>
          <a:p>
            <a:r>
              <a:t>证据来源：</a:t>
            </a:r>
          </a:p>
          <a:p>
            <a:r>
              <a:t>assets/demonstration.mp4</a:t>
            </a:r>
          </a:p>
          <a:p>
            <a:r>
              <a:t>notebooks/01_demonstrations.ipynb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页｜建议 60 秒</a:t>
            </a:r>
          </a:p>
          <a:p>
            <a:r>
              <a:t>行为克隆就是监督学习：输入当前十六维状态，输出七维动作，以对应的专家动作为标签，最小化所有动作分量的均方误差。优化器根据梯度更新网络权重。每个 epoch 遍历完整训练样本。归一化均值和标准差只用训练集计算；验证集只用于比较每轮模型，选验证误差最小的检查点；测试集不训练也不选模型。整条轨迹属于同一个划分，避免相邻高度相关的状态跨集合泄漏。</a:t>
            </a:r>
          </a:p>
          <a:p/>
          <a:p>
            <a:r>
              <a:t>证据来源：</a:t>
            </a:r>
          </a:p>
          <a:p>
            <a:r>
              <a:t>src/manipulation_lab/training.py</a:t>
            </a:r>
          </a:p>
          <a:p>
            <a:r>
              <a:t>src/manipulation_lab/policy.py</a:t>
            </a:r>
          </a:p>
          <a:p>
            <a:r>
              <a:t>evidence/dataset_inspection.json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页｜建议 60 秒</a:t>
            </a:r>
          </a:p>
          <a:p>
            <a:r>
              <a:t>两次训练唯一计划改变的变量是学习率。数据、整轨迹划分、网络、初始化、随机种子十七、五十轮预算、批大小二百五十六和设备均保持一致。代码还比较初始权重哈希、数据与评测清单，所有检查必须通过。本次使用 CPU 训练、软件渲染；最初 EGL 失败发生在示教渲染阶段，未进入训练，日志保留。lr_a 在查看测试结果前就固定为主要分析模型，所以即使另一组分数更高，也不能事后换掉主要模型。</a:t>
            </a:r>
          </a:p>
          <a:p/>
          <a:p>
            <a:r>
              <a:t>证据来源：</a:t>
            </a:r>
          </a:p>
          <a:p>
            <a:r>
              <a:t>evidence/experiment.json</a:t>
            </a:r>
          </a:p>
          <a:p>
            <a:r>
              <a:t>evidence/lr_a_training_config.json</a:t>
            </a:r>
          </a:p>
          <a:p>
            <a:r>
              <a:t>evidence/lr_b_training_config.json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页｜建议 60 秒</a:t>
            </a:r>
          </a:p>
          <a:p>
            <a:r>
              <a:t>先解释横轴是训练轮次，纵轴是对归一化动作计算的均方误差，使用对数刻度。蓝色训练、棕色验证，虚线标出最低验证误差的轮次。不要看到第五十轮训练误差最低就选择第五十轮：本作业按验证集选择权重。训练误差持续下降而验证误差没有同步下降，说明在训练示例上拟合更好，不等于新状态上的表现改善。两组使用相同纵轴，便于直接比较；所有数值保留在原始 CSV。</a:t>
            </a:r>
          </a:p>
          <a:p/>
          <a:p>
            <a:r>
              <a:t>证据来源：</a:t>
            </a:r>
          </a:p>
          <a:p>
            <a:r>
              <a:t>evidence/lr_a_training_log.csv</a:t>
            </a:r>
          </a:p>
          <a:p>
            <a:r>
              <a:t>evidence/lr_b_training_log.csv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页｜建议 60 秒</a:t>
            </a:r>
          </a:p>
          <a:p>
            <a:r>
              <a:t>直接比较同一次运行的真实数字。lr_a 第五十轮训练误差更低，但用于评测的是各自验证集选择的检查点；其标准条件和偏移条件均只有三次成功，lr_b 均为五次。由此不能用训练误差代替闭环任务指标。注意这不是在同一权重上只改变误差的因果实验，也不是统计意义上证明低学习率普遍更优。每种条件只有五个案例，一个案例就是二十个百分点；只有一个训练种子，配对的标准和偏移也不是独立样本。</a:t>
            </a:r>
          </a:p>
          <a:p/>
          <a:p>
            <a:r>
              <a:t>证据来源：</a:t>
            </a:r>
          </a:p>
          <a:p>
            <a:r>
              <a:t>evidence/lr_a_training_log.csv</a:t>
            </a:r>
          </a:p>
          <a:p>
            <a:r>
              <a:t>evidence/lr_b_training_log.csv</a:t>
            </a:r>
          </a:p>
          <a:p>
            <a:r>
              <a:t>evidence/lr_a_evaluation_summary.json</a:t>
            </a:r>
          </a:p>
          <a:p>
            <a:r>
              <a:t>evidence/lr_b_evaluation_summary.json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页｜建议 60 秒</a:t>
            </a:r>
          </a:p>
          <a:p>
            <a:r>
              <a:t>散点图每一点是一条示教或一次测试的初始位置，不是运动轨迹；颜色也不表示成功失败。灰点为一百六十条训练轨迹的起点，蓝点是测试的标准起点，叉号是沿世界 X 正方向平移四厘米的起点，细线连接同一个配对案例。配对使用相同的源轨迹和随机种子，偏移后仍须在源箱内。这只是受控位置扰动，二维图无法证明完整十六维输入分布之外，因此不能称严格的分布外测试。</a:t>
            </a:r>
          </a:p>
          <a:p/>
          <a:p>
            <a:r>
              <a:t>证据来源：</a:t>
            </a:r>
          </a:p>
          <a:p>
            <a:r>
              <a:t>evidence/lr_a_test_manifest.json</a:t>
            </a:r>
          </a:p>
          <a:p>
            <a:r>
              <a:t>evidence/dataset_inspection.json</a:t>
            </a:r>
          </a:p>
          <a:p>
            <a:r>
              <a:t>src/manipulation_lab/teaching.py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页｜建议 60 秒</a:t>
            </a:r>
          </a:p>
          <a:p>
            <a:r>
              <a:t>本次所有配对案例的成功失败标签都没有因偏移而改变，但完成时间发生变化，不能把总成功率相同解释为行为完全不变。表内显示结果和执行步数。主要策略在 demo_185、种子一百零二上两种条件均成功，但标准需要一百四十一步，偏移后一百五十六步，增加十五步即零点七五秒。lr_b 在 demo_48 上反而从一百八十二步减少到一百四十一步。这些是观察事实；位置影响抓取几何或状态区域是可能机制，表格本身不能诊断原因。五百步表示未在时间预算内完成，而不是成功时间。</a:t>
            </a:r>
          </a:p>
          <a:p/>
          <a:p>
            <a:r>
              <a:t>证据来源：</a:t>
            </a:r>
          </a:p>
          <a:p>
            <a:r>
              <a:t>evidence/lr_a_paired_results.csv</a:t>
            </a:r>
          </a:p>
          <a:p>
            <a:r>
              <a:t>evidence/lr_b_paired_results.csv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页｜建议 70 秒</a:t>
            </a:r>
          </a:p>
          <a:p>
            <a:r>
              <a:t>播放主要策略第一条失败 standard_00。最明显的结果是机械臂继续搬运动作，但罐子留在源箱。不要把第五百步最终没放进去标为第一错误，那只是结果。我们沿状态和接触记录向前检查：四十九至五十六步有接触，五十七步首次失去接触，同时闭合命令接近正一；后续一直没有重新接触。把五十七步标为最早有明确数据支持的抓持丢失，不把它冒充最早的因果起点。更早的对齐偏差是否已经构成错误，还需要对照。</a:t>
            </a:r>
          </a:p>
          <a:p/>
          <a:p>
            <a:r>
              <a:t>证据来源：</a:t>
            </a:r>
          </a:p>
          <a:p>
            <a:r>
              <a:t>assets/failure.mp4</a:t>
            </a:r>
          </a:p>
          <a:p>
            <a:r>
              <a:t>evidence/failure_trace.npz</a:t>
            </a:r>
          </a:p>
          <a:p>
            <a:r>
              <a:t>evidence/observed_facts.json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页｜建议 60 秒</a:t>
            </a:r>
          </a:p>
          <a:p>
            <a:r>
              <a:t>四张图分别是第四十五、五十三、五十七和六十五步。它们都恰好有实际视频帧，偏移为零，帧号分别十一、十三、十四和十六。请区分动作和状态：a[t-1] 导致 s[t]；视频每四步在执行动作之后记录，所以第一帧是状态一而不是状态零。第五十七步为二点八五秒控制经过时间，不是采集时间戳。普通情况下请求步号未必恰好有视频帧，必须报告偏移，不能把邻帧图像当成该时刻精确状态。</a:t>
            </a:r>
          </a:p>
          <a:p/>
          <a:p>
            <a:r>
              <a:t>证据来源：</a:t>
            </a:r>
          </a:p>
          <a:p>
            <a:r>
              <a:t>evidence/observed_facts.json</a:t>
            </a:r>
          </a:p>
          <a:p>
            <a:r>
              <a:t>evidence/failure_trace.npz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页｜建议 80 秒</a:t>
            </a:r>
          </a:p>
          <a:p>
            <a:r>
              <a:t>左图放大前一百步，分别画世界高度、夹爪开口、归一化闭合命令和接触布尔值，避免混用单位。红线是人工标注，不是算法自动识别的根因。第五十七步开口约二点二四厘米，之后夹爪几乎完全闭合，末端明显升高，而罐子最高只比初始高约五点七毫米。事实支持没有形成可持续的抓持。可能是进入位置或姿态对齐不佳，也可能是闭合与抬升时序问题，但记录不足以证明某一个。若检验时序，应从相同的预闭合模拟状态、相同种子和同一策略检查点开始，仅改变规定长度的闭合等待，其余固定，比较接触持续和抬升；本次没有实施这个额外实验。</a:t>
            </a:r>
          </a:p>
          <a:p/>
          <a:p>
            <a:r>
              <a:t>证据来源：</a:t>
            </a:r>
          </a:p>
          <a:p>
            <a:r>
              <a:t>evidence/failure_trace.npz</a:t>
            </a:r>
          </a:p>
          <a:p>
            <a:r>
              <a:t>evidence/failure_analysis.json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页｜建议 45 秒</a:t>
            </a:r>
          </a:p>
          <a:p>
            <a:r>
              <a:t>最后回到学生提交要求。四份完成版 Notebook 保留真实输出，并补齐参考答案。完整证据包包括两组配置、模型、曲线、配对结果、视频和标注；另有两页参考报告。原学生模板和旧输出保留，不要求学生复制相同文字。这个结果只描述本次固定种子的仿真；没有真实机器人验证、没有多个独立训练种子的统计结论，也没有实施新算法验证原因。PPT 有可编辑文字与中文讲解备注，PDF 用于快速预览；教学电脑上的原生 PowerPoint 媒体播放仍需打开确认。</a:t>
            </a:r>
          </a:p>
          <a:p/>
          <a:p>
            <a:r>
              <a:t>证据来源：</a:t>
            </a:r>
          </a:p>
          <a:p>
            <a:r>
              <a:t>solution_execution.json</a:t>
            </a:r>
          </a:p>
          <a:p>
            <a:r>
              <a:t>media_provenance.json</a:t>
            </a:r>
          </a:p>
          <a:p>
            <a:r>
              <a:t>verification.json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INSTRUCTOR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From demonstration to a defensible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715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>
                <a:solidFill>
                  <a:srgbClr val="252C30"/>
                </a:solidFill>
                <a:latin typeface="Source Serif 4"/>
              </a:defRPr>
            </a:pPr>
            <a:r>
              <a:t>Manipulation</a:t>
            </a:r>
          </a:p>
          <a:p>
            <a:pPr>
              <a:spcAft>
                <a:spcPts val="800"/>
              </a:spcAft>
              <a:defRPr sz="4300">
                <a:solidFill>
                  <a:srgbClr val="252C30"/>
                </a:solidFill>
                <a:latin typeface="Source Serif 4"/>
              </a:defRPr>
            </a:pPr>
            <a:r>
              <a:t>Learning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3F7085"/>
                </a:solidFill>
                <a:latin typeface="Source Sans 3"/>
              </a:defRPr>
            </a:pPr>
            <a:r>
              <a:t>Worked solutions to Q1–Q5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590288"/>
            <a:ext cx="5577840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4 executed notebooks</a:t>
            </a:r>
          </a:p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2 policies × 50 epochs</a:t>
            </a:r>
          </a:p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20 real simulator rollouts</a:t>
            </a:r>
          </a:p>
        </p:txBody>
      </p:sp>
      <p:pic>
        <p:nvPicPr>
          <p:cNvPr id="9" name="Picture 8" descr="success_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18488"/>
            <a:ext cx="4206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TASK AND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What actually counts as task success?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02</a:t>
            </a:r>
          </a:p>
        </p:txBody>
      </p:sp>
      <p:pic>
        <p:nvPicPr>
          <p:cNvPr id="6" name="succes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673352"/>
            <a:ext cx="379476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50468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626B70"/>
                </a:solidFill>
                <a:latin typeface="Source Sans 3"/>
              </a:defRPr>
            </a:pPr>
            <a:r>
              <a:t>Primary policy lr_a · standard_01</a:t>
            </a:r>
          </a:p>
          <a:p>
            <a:pPr>
              <a:spcAft>
                <a:spcPts val="800"/>
              </a:spcAft>
              <a:defRPr sz="1500">
                <a:solidFill>
                  <a:srgbClr val="626B70"/>
                </a:solidFill>
                <a:latin typeface="Source Sans 3"/>
              </a:defRPr>
            </a:pPr>
            <a:r>
              <a:t>Click to play the recorded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6172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252C30"/>
                </a:solidFill>
                <a:latin typeface="Source Sans 3"/>
              </a:defRPr>
            </a:pPr>
            <a:r>
              <a:t>1  Reach and grasp</a:t>
            </a:r>
          </a:p>
          <a:p>
            <a:pPr>
              <a:spcAft>
                <a:spcPts val="800"/>
              </a:spcAft>
              <a:defRPr sz="2500">
                <a:solidFill>
                  <a:srgbClr val="252C30"/>
                </a:solidFill>
                <a:latin typeface="Source Sans 3"/>
              </a:defRPr>
            </a:pPr>
            <a:r>
              <a:t>2  Transport to the target</a:t>
            </a:r>
          </a:p>
          <a:p>
            <a:pPr>
              <a:spcAft>
                <a:spcPts val="800"/>
              </a:spcAft>
              <a:defRPr sz="2500">
                <a:solidFill>
                  <a:srgbClr val="252C30"/>
                </a:solidFill>
                <a:latin typeface="Source Sans 3"/>
              </a:defRPr>
            </a:pPr>
            <a:r>
              <a:t>3  Open the gripper; remove contact</a:t>
            </a:r>
          </a:p>
          <a:p>
            <a:pPr>
              <a:spcAft>
                <a:spcPts val="800"/>
              </a:spcAft>
              <a:defRPr sz="2500">
                <a:solidFill>
                  <a:srgbClr val="252C30"/>
                </a:solidFill>
                <a:latin typeface="Source Sans 3"/>
              </a:defRPr>
            </a:pPr>
            <a:r>
              <a:t>4  Remain stable for 1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352544"/>
            <a:ext cx="6126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Stable release: opening ≥ 0.055 m</a:t>
            </a:r>
          </a:p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Displacement ≤ 0.01 m; speed ≤ 0.05 m/s</a:t>
            </a:r>
          </a:p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The policy keeps running during the check.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01 /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Q1 · The policy observes 16 state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3863339" cy="66294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Observation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1691640"/>
            <a:ext cx="891540" cy="66294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01368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1691640"/>
            <a:ext cx="6039612" cy="66294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68696" y="1801368"/>
            <a:ext cx="5861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Meaning /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77440"/>
            <a:ext cx="3863339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87168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End-effector 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4568" y="2377440"/>
            <a:ext cx="891540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487168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8968" y="2377440"/>
            <a:ext cx="6039612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2487168"/>
            <a:ext cx="5861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World XYZ, meters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63240"/>
            <a:ext cx="3863339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72968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End-effector orientation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4568" y="3063240"/>
            <a:ext cx="891540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3172968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58968" y="3063240"/>
            <a:ext cx="6039612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68696" y="3172968"/>
            <a:ext cx="5861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Quaternion, xyzw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49039"/>
            <a:ext cx="3863339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858768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Finger joint positions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44568" y="3749039"/>
            <a:ext cx="891540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3858768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58968" y="3749039"/>
            <a:ext cx="6039612" cy="6629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8696" y="3858768"/>
            <a:ext cx="5861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Two measured slide joints, meters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434840"/>
            <a:ext cx="3863339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544568"/>
            <a:ext cx="36850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Can position + orientation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44568" y="4434840"/>
            <a:ext cx="891540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4544568"/>
            <a:ext cx="7132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58968" y="4434840"/>
            <a:ext cx="6039612" cy="66294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4544568"/>
            <a:ext cx="5861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World XYZ + xyzw quaternion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3 + 4 + 2 + 7 = 16. The adapter uses object[7:14] in both training and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01 /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Q1 · Seven commands do not mean seven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3131820" cy="690372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29535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Action 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1691640"/>
            <a:ext cx="3040380" cy="690372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22776" y="1801368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Normalized command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691640"/>
            <a:ext cx="4622292" cy="690372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801368"/>
            <a:ext cx="444398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Source Sans 3 Semibold"/>
              </a:defRPr>
            </a:pPr>
            <a:r>
              <a:t>Controller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04872"/>
            <a:ext cx="3131820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514600"/>
            <a:ext cx="29535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Translation  (3)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3048" y="2404872"/>
            <a:ext cx="3040380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2514600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[-1, 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404872"/>
            <a:ext cx="4622292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514600"/>
            <a:ext cx="444398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World increments; limits ±0.05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118104"/>
            <a:ext cx="3131820" cy="690372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227832"/>
            <a:ext cx="29535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Rotation  (3)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3048" y="3118104"/>
            <a:ext cx="3040380" cy="690372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776" y="3227832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[-1, 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118104"/>
            <a:ext cx="4622292" cy="690372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3227832"/>
            <a:ext cx="444398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Axis-angle increments; limits ±0.5 rad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831335"/>
            <a:ext cx="3131820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941063"/>
            <a:ext cx="295351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Gripper  (1)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3048" y="3831335"/>
            <a:ext cx="3040380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22776" y="3941063"/>
            <a:ext cx="286207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Positive / negative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831335"/>
            <a:ext cx="4622292" cy="69037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941063"/>
            <a:ext cx="444398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Close / open; unitless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36592"/>
            <a:ext cx="10561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Example: translation command 0.2 requests a 0.01 m controller increment.</a:t>
            </a:r>
          </a:p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The measured displacement can differ because of dynamics and contact.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Finger joints = 2   /   Gripper observation values = 2   /   Gripper action = 1   /   20 Hz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01 /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Q1 · A trajectory explains what the final image cannot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05</a:t>
            </a:r>
          </a:p>
        </p:txBody>
      </p:sp>
      <p:pic>
        <p:nvPicPr>
          <p:cNvPr id="6" name="Picture 5" descr="demo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4747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2212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F7085"/>
                </a:solidFill>
                <a:latin typeface="Source Sans 3"/>
              </a:defRPr>
            </a:pPr>
            <a:r>
              <a:t>Recorded start</a:t>
            </a:r>
          </a:p>
        </p:txBody>
      </p:sp>
      <p:pic>
        <p:nvPicPr>
          <p:cNvPr id="8" name="Picture 7" descr="demo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783080"/>
            <a:ext cx="34747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16552" y="52212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F7085"/>
                </a:solidFill>
                <a:latin typeface="Source Sans 3"/>
              </a:defRPr>
            </a:pPr>
            <a:r>
              <a:t>Middle of demonstration</a:t>
            </a:r>
          </a:p>
        </p:txBody>
      </p:sp>
      <p:pic>
        <p:nvPicPr>
          <p:cNvPr id="10" name="Picture 9" descr="demo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783080"/>
            <a:ext cx="3474720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1584" y="52212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F7085"/>
                </a:solidFill>
                <a:latin typeface="Source Sans 3"/>
              </a:defRPr>
            </a:pPr>
            <a:r>
              <a:t>Recorded 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Sequence reveals approach, closure, lift and release. Demonstration playback is recorded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02 / LEARNING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Q2 · Behavior cloning learns the expert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108960" cy="150876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7510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3F7085"/>
                </a:solidFill>
                <a:latin typeface="Source Sans 3 Semibold"/>
              </a:defRPr>
            </a:pPr>
            <a:r>
              <a:t>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23744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16 measured state values</a:t>
            </a:r>
          </a:p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Training-only normalization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154680" cy="150876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97510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3F7085"/>
                </a:solidFill>
                <a:latin typeface="Source Sans 3 Semibold"/>
              </a:defRPr>
            </a:pPr>
            <a:r>
              <a:t>BC 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523744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MLP: 256 → 256 → 256</a:t>
            </a:r>
          </a:p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Predict 7 action values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154680" cy="150876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97510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3F7085"/>
                </a:solidFill>
                <a:latin typeface="Source Sans 3 Semibold"/>
              </a:defRPr>
            </a:pPr>
            <a:r>
              <a:t>Expert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523744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Recorded action a*</a:t>
            </a:r>
          </a:p>
          <a:p>
            <a:pPr>
              <a:spcAft>
                <a:spcPts val="800"/>
              </a:spcAft>
              <a:defRPr sz="1800">
                <a:solidFill>
                  <a:srgbClr val="252C30"/>
                </a:solidFill>
                <a:latin typeface="Source Sans 3"/>
              </a:defRPr>
            </a:pPr>
            <a:r>
              <a:t>Compare with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3" y="2340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3F7085"/>
                </a:solidFill>
                <a:latin typeface="Source Sans 3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2340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3F7085"/>
                </a:solidFill>
                <a:latin typeface="Source Sans 3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252C30"/>
                </a:solidFill>
                <a:latin typeface="Source Serif 4"/>
              </a:defRPr>
            </a:pPr>
            <a:r>
              <a:t>Loss = mean of (predicted action − expert action)²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0016"/>
            <a:ext cx="105156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252C30"/>
                </a:solidFill>
                <a:latin typeface="Source Sans 3"/>
              </a:defRPr>
            </a:pPr>
            <a:r>
              <a:t>200 full episodes: 160 train / 20 validation / 20 test</a:t>
            </a:r>
          </a:p>
          <a:p>
            <a:pPr>
              <a:spcAft>
                <a:spcPts val="800"/>
              </a:spcAft>
              <a:defRPr sz="2300">
                <a:solidFill>
                  <a:srgbClr val="252C30"/>
                </a:solidFill>
                <a:latin typeface="Source Sans 3"/>
              </a:defRPr>
            </a:pPr>
            <a:r>
              <a:t>23,207 recorded control steps; test rollouts never update weights.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Gradient update learns weights; validation loss selects the checkpoint; test cases measure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02 / CONTROLLED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Q2 · Change one variable; keep the comparison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3680459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691640"/>
            <a:ext cx="3557016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80136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1563" y="1691640"/>
            <a:ext cx="3557016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1291" y="180136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86000"/>
            <a:ext cx="368045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Learning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28600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39572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0.001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1563" y="228600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1291" y="239572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0.0003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0360"/>
            <a:ext cx="3680459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9008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Seed / epochs / batch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2880360"/>
            <a:ext cx="3557016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299008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17 / 50 / 256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41563" y="2880360"/>
            <a:ext cx="3557016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1291" y="299008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17 / 50 / 256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74720"/>
            <a:ext cx="368045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Hidden layers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347472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71416" y="358444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256 / 256 / 256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41563" y="347472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1291" y="358444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256 / 256 / 256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69080"/>
            <a:ext cx="3680459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17880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Selected validation epoch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1688" y="4069080"/>
            <a:ext cx="3557016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417880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41563" y="4069080"/>
            <a:ext cx="3557016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1291" y="417880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63440"/>
            <a:ext cx="368045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773168"/>
            <a:ext cx="3502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Test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61688" y="466344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1416" y="477316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Same 5 standard + 5 shifted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41563" y="4663440"/>
            <a:ext cx="3557016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1291" y="4773168"/>
            <a:ext cx="33787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Same 5 standard + 5 shifted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All control checks passed. lr_a was fixed as the primary policy before test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02 /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Q3 · Read training and validation curves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08</a:t>
            </a:r>
          </a:p>
        </p:txBody>
      </p:sp>
      <p:pic>
        <p:nvPicPr>
          <p:cNvPr id="6" name="Picture 5" descr="lo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3733"/>
            <a:ext cx="10789920" cy="38214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Best validation MSE: lr_a = 0.03538; lr_b = 0.03412. Both trained for 50 epochs.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03 / OBSERVED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Q3 · Lower training error did not yield more successes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1348740" cy="75438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11704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ource Sans 3 Semibold"/>
              </a:defRPr>
            </a:pPr>
            <a:r>
              <a:t>Variant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9967" y="1691640"/>
            <a:ext cx="2674620" cy="75438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1801368"/>
            <a:ext cx="2496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ource Sans 3 Semibold"/>
              </a:defRPr>
            </a:pPr>
            <a:r>
              <a:t>Epoch-50 train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7448" y="1691640"/>
            <a:ext cx="2583180" cy="75438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1801368"/>
            <a:ext cx="2404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ource Sans 3 Semibold"/>
              </a:defRPr>
            </a:pPr>
            <a:r>
              <a:t>Selected 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691640"/>
            <a:ext cx="2071116" cy="75438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5" y="180136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ource Sans 3 Semibold"/>
              </a:defRPr>
            </a:pPr>
            <a:r>
              <a:t>Standard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27463" y="1691640"/>
            <a:ext cx="2071116" cy="75438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1" y="180136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Source Sans 3 Semibold"/>
              </a:defRPr>
            </a:pPr>
            <a:r>
              <a:t>Shifted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468880"/>
            <a:ext cx="1348740" cy="7543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578608"/>
            <a:ext cx="11704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lr_a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7" y="2468880"/>
            <a:ext cx="2674620" cy="7543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9696" y="2578608"/>
            <a:ext cx="2496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0.01772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27448" y="2468880"/>
            <a:ext cx="2583180" cy="7543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2578608"/>
            <a:ext cx="2404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0.03538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468880"/>
            <a:ext cx="2071116" cy="7543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57860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3/5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3" y="2468880"/>
            <a:ext cx="2071116" cy="7543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7191" y="257860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3/5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246120"/>
            <a:ext cx="1348740" cy="75438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355848"/>
            <a:ext cx="117043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lr_b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29967" y="3246120"/>
            <a:ext cx="2674620" cy="75438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3355848"/>
            <a:ext cx="24963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0.02092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27448" y="3246120"/>
            <a:ext cx="2583180" cy="75438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6" y="3355848"/>
            <a:ext cx="2404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0.03412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3488" y="3246120"/>
            <a:ext cx="2071116" cy="75438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215" y="335584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5/5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7463" y="3246120"/>
            <a:ext cx="2071116" cy="75438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37191" y="3355848"/>
            <a:ext cx="189280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5/5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389120"/>
            <a:ext cx="105156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A rollout changes the states the policy will see next.</a:t>
            </a:r>
          </a:p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Small action errors can accumulate; a missed grasp changes the rest of the task.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Counts use stable released placement. Environment-success counts happen to match in this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03 /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Q4 · Position Shift changes only the initial can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10</a:t>
            </a:r>
          </a:p>
        </p:txBody>
      </p:sp>
      <p:pic>
        <p:nvPicPr>
          <p:cNvPr id="6" name="Picture 5" descr="po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078" y="1600200"/>
            <a:ext cx="5658802" cy="4178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42631" y="2011680"/>
            <a:ext cx="4160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Standard start → +0.04 m in world X</a:t>
            </a:r>
          </a:p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Same source state and evaluation seed</a:t>
            </a:r>
          </a:p>
          <a:p>
            <a:pPr>
              <a:spcAft>
                <a:spcPts val="800"/>
              </a:spcAft>
              <a:defRPr sz="2200">
                <a:solidFill>
                  <a:srgbClr val="252C30"/>
                </a:solidFill>
                <a:latin typeface="Source Sans 3"/>
              </a:defRPr>
            </a:pPr>
            <a:r>
              <a:t>Shifted can stays inside the source 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2631" y="4069080"/>
            <a:ext cx="41605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3F7085"/>
                </a:solidFill>
                <a:latin typeface="Source Sans 3"/>
              </a:defRPr>
            </a:pPr>
            <a:r>
              <a:t>Dots are initial positions.</a:t>
            </a:r>
          </a:p>
          <a:p>
            <a:pPr>
              <a:spcAft>
                <a:spcPts val="800"/>
              </a:spcAft>
              <a:defRPr sz="2100">
                <a:solidFill>
                  <a:srgbClr val="3F7085"/>
                </a:solidFill>
                <a:latin typeface="Source Sans 3"/>
              </a:defRPr>
            </a:pPr>
            <a:r>
              <a:t>Lines connect paired starts.</a:t>
            </a:r>
          </a:p>
          <a:p>
            <a:pPr>
              <a:spcAft>
                <a:spcPts val="800"/>
              </a:spcAft>
              <a:defRPr sz="2100">
                <a:solidFill>
                  <a:srgbClr val="3F7085"/>
                </a:solidFill>
                <a:latin typeface="Source Sans 3"/>
              </a:defRPr>
            </a:pPr>
            <a:r>
              <a:t>Neither marks a trajectory or success.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2D overlap and a four-centimeter shift do not certify out-of-distribution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03 / PAIRED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Q4 · Same success labels, different completion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2903220" cy="562356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Source / seed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691640"/>
            <a:ext cx="1961388" cy="562356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80136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lr_a std.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8696" y="1691640"/>
            <a:ext cx="1961388" cy="562356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78424" y="180136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lr_a shift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2944" y="1691640"/>
            <a:ext cx="1961388" cy="562356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180136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lr_b std.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37192" y="1691640"/>
            <a:ext cx="1961388" cy="562356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19" y="180136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lr_b shift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276856"/>
            <a:ext cx="2903220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386584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demo_39 /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4448" y="2276856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4176" y="2386584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Fail · 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68696" y="2276856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78424" y="2386584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Fail · 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2944" y="2276856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386584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37192" y="2276856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19" y="2386584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862072"/>
            <a:ext cx="2903220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2971800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demo_185 / 102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2862072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2971800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862072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8424" y="2971800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2944" y="2862072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1" y="2971800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37192" y="2862072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2971800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47288"/>
            <a:ext cx="2903220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557016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demo_29 / 103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3447288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3557016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68696" y="3447288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78424" y="3557016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163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52944" y="3447288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1" y="3557016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37192" y="3447288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19" y="3557016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153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032504"/>
            <a:ext cx="2903220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4142232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demo_48 / 104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4032504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4142232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Fail · 500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68696" y="4032504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78424" y="4142232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Fail · 500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52944" y="4032504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62671" y="4142232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37192" y="4032504"/>
            <a:ext cx="1961388" cy="562356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19" y="4142232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617720"/>
            <a:ext cx="2903220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4727448"/>
            <a:ext cx="272491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demo_157 / 105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4617720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94176" y="472744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8696" y="4617720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78424" y="472744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159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52944" y="4617720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62671" y="472744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37192" y="4617720"/>
            <a:ext cx="1961388" cy="56235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46919" y="4727448"/>
            <a:ext cx="178308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Pass · 142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Cells show result · control steps. lr_a / demo_185: 141 → 156 steps (+0.75 s); both succeed.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04 / REAL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Q5 · The arm moves on without the 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12</a:t>
            </a:r>
          </a:p>
        </p:txBody>
      </p:sp>
      <p:pic>
        <p:nvPicPr>
          <p:cNvPr id="6" name="failur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691640"/>
            <a:ext cx="38404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5321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626B70"/>
                </a:solidFill>
                <a:latin typeface="Source Sans 3"/>
              </a:defRPr>
            </a:pPr>
            <a:r>
              <a:t>lr_a · standard_00 · 500 steps / 25 s</a:t>
            </a:r>
          </a:p>
          <a:p>
            <a:pPr>
              <a:spcAft>
                <a:spcPts val="800"/>
              </a:spcAft>
              <a:defRPr sz="1500">
                <a:solidFill>
                  <a:srgbClr val="626B70"/>
                </a:solidFill>
                <a:latin typeface="Source Sans 3"/>
              </a:defRPr>
            </a:pPr>
            <a:r>
              <a:t>Click to play the unmodified failure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892807"/>
            <a:ext cx="6108192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Contact is present at steps 49–56.</a:t>
            </a:r>
          </a:p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At step 57, contact becomes false.</a:t>
            </a:r>
          </a:p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The gripper still receives a close command.</a:t>
            </a:r>
          </a:p>
          <a:p>
            <a:pPr>
              <a:spcAft>
                <a:spcPts val="800"/>
              </a:spcAft>
              <a:defRPr sz="2400">
                <a:solidFill>
                  <a:srgbClr val="252C30"/>
                </a:solidFill>
                <a:latin typeface="Source Sans 3"/>
              </a:defRPr>
            </a:pPr>
            <a:r>
              <a:t>The arm rises; the can stays behind.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4663440"/>
            <a:ext cx="610819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Failure stage: grasp retention / start of lift</a:t>
            </a:r>
          </a:p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Annotation: first supported loss of contact</a:t>
            </a:r>
          </a:p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"/>
              </a:defRPr>
            </a:pPr>
            <a:r>
              <a:t>Root cause: still a hypothesis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04 / KEYFRAMES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Q5 · Pin the explanation to recorded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13</a:t>
            </a:r>
          </a:p>
        </p:txBody>
      </p:sp>
      <p:pic>
        <p:nvPicPr>
          <p:cNvPr id="6" name="Picture 5" descr="keyfram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691640"/>
            <a:ext cx="242316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" y="4197096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 Semibold"/>
              </a:defRPr>
            </a:pPr>
            <a:r>
              <a:t>Step 45  /  frame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464515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Opening 0.0795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Can Z 0.8601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Frame offset +0 steps</a:t>
            </a:r>
          </a:p>
        </p:txBody>
      </p:sp>
      <p:pic>
        <p:nvPicPr>
          <p:cNvPr id="9" name="Picture 8" descr="keyfram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7" y="1691640"/>
            <a:ext cx="242316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19" y="4197096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 Semibold"/>
              </a:defRPr>
            </a:pPr>
            <a:r>
              <a:t>Step 53  /  frame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19" y="464515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Opening 0.0534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Can Z 0.8599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Frame offset +0 steps</a:t>
            </a:r>
          </a:p>
        </p:txBody>
      </p:sp>
      <p:pic>
        <p:nvPicPr>
          <p:cNvPr id="12" name="Picture 11" descr="keyfram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691640"/>
            <a:ext cx="2423160" cy="2423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45352" y="4197096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 Semibold"/>
              </a:defRPr>
            </a:pPr>
            <a:r>
              <a:t>Step 57  /  frame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464515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Opening 0.0224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Can Z 0.8647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Frame offset +0 steps</a:t>
            </a:r>
          </a:p>
        </p:txBody>
      </p:sp>
      <p:pic>
        <p:nvPicPr>
          <p:cNvPr id="15" name="Picture 14" descr="keyfram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2852" y="1691640"/>
            <a:ext cx="2423160" cy="2423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15984" y="4197096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F7085"/>
                </a:solidFill>
                <a:latin typeface="Source Sans 3 Semibold"/>
              </a:defRPr>
            </a:pPr>
            <a:r>
              <a:t>Step 65  /  frame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5984" y="464515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Opening 0.0022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Can Z 0.8603 m</a:t>
            </a:r>
          </a:p>
          <a:p>
            <a:pPr>
              <a:spcAft>
                <a:spcPts val="800"/>
              </a:spcAft>
              <a:defRPr sz="1700">
                <a:solidFill>
                  <a:srgbClr val="252C30"/>
                </a:solidFill>
                <a:latin typeface="Source Sans 3"/>
              </a:defRPr>
            </a:pPr>
            <a:r>
              <a:t>Frame offset +0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a[t−1] leads to s[t]. Frames are sampled after actions: steps 1, 5, 9, …; use the saved mapping.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NOTEBOOK 04 /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Q5 · Separate measured facts from a causal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14</a:t>
            </a:r>
          </a:p>
        </p:txBody>
      </p:sp>
      <p:pic>
        <p:nvPicPr>
          <p:cNvPr id="6" name="Picture 5" descr="failure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01" y="1572768"/>
            <a:ext cx="5694589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81051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3F7085"/>
                </a:solidFill>
                <a:latin typeface="Source Sans 3 Semibold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331720"/>
            <a:ext cx="38862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52C30"/>
                </a:solidFill>
                <a:latin typeface="Source Sans 3"/>
              </a:defRPr>
            </a:pPr>
            <a:r>
              <a:t>Contact lost at step 57</a:t>
            </a:r>
          </a:p>
          <a:p>
            <a:pPr>
              <a:spcAft>
                <a:spcPts val="800"/>
              </a:spcAft>
              <a:defRPr sz="2100">
                <a:solidFill>
                  <a:srgbClr val="252C30"/>
                </a:solidFill>
                <a:latin typeface="Source Sans 3"/>
              </a:defRPr>
            </a:pPr>
            <a:r>
              <a:t>Close command ≈ +1</a:t>
            </a:r>
          </a:p>
          <a:p>
            <a:pPr>
              <a:spcAft>
                <a:spcPts val="800"/>
              </a:spcAft>
              <a:defRPr sz="2100">
                <a:solidFill>
                  <a:srgbClr val="252C30"/>
                </a:solidFill>
                <a:latin typeface="Source Sans 3"/>
              </a:defRPr>
            </a:pPr>
            <a:r>
              <a:t>Opening: 0.02240 m</a:t>
            </a:r>
          </a:p>
          <a:p>
            <a:pPr>
              <a:spcAft>
                <a:spcPts val="800"/>
              </a:spcAft>
              <a:defRPr sz="2100">
                <a:solidFill>
                  <a:srgbClr val="252C30"/>
                </a:solidFill>
                <a:latin typeface="Source Sans 3"/>
              </a:defRPr>
            </a:pPr>
            <a:r>
              <a:t>Maximum can lift: 5.72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407822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B66C49"/>
                </a:solidFill>
                <a:latin typeface="Source Sans 3 Semibold"/>
              </a:defRPr>
            </a:pPr>
            <a:r>
              <a:t>Hypothesis and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4617720"/>
            <a:ext cx="388620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Grasp alignment or closure timing.</a:t>
            </a:r>
          </a:p>
          <a:p>
            <a:pPr>
              <a:spcAft>
                <a:spcPts val="800"/>
              </a:spcAft>
              <a:defRPr sz="2000">
                <a:solidFill>
                  <a:srgbClr val="252C30"/>
                </a:solidFill>
                <a:latin typeface="Source Sans 3"/>
              </a:defRPr>
            </a:pPr>
            <a:r>
              <a:t>Test one timing intervention from the same saved pre-close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The red line is an evidence-based annotation. The proposed intervention has not been executed.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F7085"/>
                </a:solidFill>
                <a:latin typeface="Source Sans 3 Semibold"/>
              </a:defRPr>
            </a:pPr>
            <a:r>
              <a:t>DELIVERABLES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32104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252C30"/>
                </a:solidFill>
                <a:latin typeface="Source Serif 4"/>
              </a:defRPr>
            </a:pPr>
            <a:r>
              <a:t>A complete solution is a chain of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922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26B70"/>
                </a:solidFill>
                <a:latin typeface="Source Sans 3"/>
              </a:defRPr>
            </a:pPr>
            <a:r>
              <a:t>MANIPULATION LEARNING LAB  /  WORKED SOLUTIONS  /  13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26B70"/>
                </a:solidFill>
                <a:latin typeface="Source Sans 3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1120140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0136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1368" y="1691640"/>
            <a:ext cx="4411979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11095" y="180136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Evidence to include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1691640"/>
            <a:ext cx="5262372" cy="571500"/>
          </a:xfrm>
          <a:prstGeom prst="rect">
            <a:avLst/>
          </a:prstGeom>
          <a:solidFill>
            <a:srgbClr val="3F7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0136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FFFFF"/>
                </a:solidFill>
                <a:latin typeface="Source Sans 3 Semibold"/>
              </a:defRPr>
            </a:pPr>
            <a:r>
              <a:t>What the answer establishes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86000"/>
            <a:ext cx="1120140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Q1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1368" y="2286000"/>
            <a:ext cx="441197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11095" y="239572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Data contract + demonstration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2286000"/>
            <a:ext cx="5262372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39572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Observation, action, units and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0360"/>
            <a:ext cx="1120140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99008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Q2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01368" y="2880360"/>
            <a:ext cx="4411979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11095" y="299008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Configuration + selected checkpoint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2880360"/>
            <a:ext cx="5262372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99008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How the mapping is learned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74720"/>
            <a:ext cx="1120140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1368" y="3474720"/>
            <a:ext cx="441197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11095" y="358444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Both loss histories + success counts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7" y="3474720"/>
            <a:ext cx="5262372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58444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Prediction loss versus task behavior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069080"/>
            <a:ext cx="1120140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17880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Q4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01368" y="4069080"/>
            <a:ext cx="4411979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11095" y="417880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Paired rows + initial-position plot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7" y="4069080"/>
            <a:ext cx="5262372" cy="571500"/>
          </a:xfrm>
          <a:prstGeom prst="rect">
            <a:avLst/>
          </a:prstGeom>
          <a:solidFill>
            <a:srgbClr val="F3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417880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Observed sensitivity; limited coverage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63440"/>
            <a:ext cx="1120140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773168"/>
            <a:ext cx="9418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Q5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1368" y="4663440"/>
            <a:ext cx="4411979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11095" y="4773168"/>
            <a:ext cx="4233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Trace + video + annotated steps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4663440"/>
            <a:ext cx="5262372" cy="5715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773168"/>
            <a:ext cx="5084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52C30"/>
                </a:solidFill>
                <a:latin typeface="Source Sans 3"/>
              </a:defRPr>
            </a:pPr>
            <a:r>
              <a:t>Failure fact, hypothesis and test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797296"/>
            <a:ext cx="10863072" cy="484632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" y="5907024"/>
            <a:ext cx="105338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F7085"/>
                </a:solidFill>
                <a:latin typeface="Source Sans 3 Semibold"/>
              </a:defRPr>
            </a:pPr>
            <a:r>
              <a:t>One training seed; five cases per condition; simulation only. Retain failures and the limits of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Manipulation Learning Lab — Worked Solutions</dc:title>
  <dc:subject/>
  <dc:creator>Manipulation Learning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