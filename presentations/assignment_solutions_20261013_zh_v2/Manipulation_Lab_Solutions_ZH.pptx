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页｜35 秒</a:t>
            </a:r>
          </a:p>
          <a:p>
            <a:r>
              <a:t>这份题解沿着四份 Notebook 的数据流讲解五道问题。所有数字来自本次真实执行：先检查示教数据，再训练两种学习率，最后进行二十次闭环仿真。请强调这是一份有完整证据的参考解答，不是要求每位学生取得相同成功率。学生要学会解释输入输出、控制变量、结果与原因之间的界限。</a:t>
            </a:r>
          </a:p>
          <a:p/>
          <a:p>
            <a:r>
              <a:t>来源：</a:t>
            </a:r>
          </a:p>
          <a:p>
            <a:r>
              <a:t>evidence/experiment.json</a:t>
            </a:r>
          </a:p>
          <a:p>
            <a:r>
              <a:t>results.json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页｜60 秒</a:t>
            </a:r>
          </a:p>
          <a:p>
            <a:r>
              <a:t>先播放本次主要策略 lr_a 的真实成功视频。机器人需要抓取、搬运、松开并稳定放置，不能把抬起来等同于任务完成。环境成功是执行期间曾满足环境标志；稳定放置还要求目标区域、开口至少五点五厘米、无夹爪接触，继续执行策略一秒，位移不超过一厘米、速度不超过每秒五厘米。这里是持续运行同一个策略，不是人为把物体静止下来。</a:t>
            </a:r>
          </a:p>
          <a:p/>
          <a:p>
            <a:r>
              <a:t>来源：</a:t>
            </a:r>
          </a:p>
          <a:p>
            <a:r>
              <a:t>assets/success_hd.mp4</a:t>
            </a:r>
          </a:p>
          <a:p>
            <a:r>
              <a:t>replay_provenance.json</a:t>
            </a:r>
          </a:p>
          <a:p>
            <a:r>
              <a:t>evidence/evaluation_config.json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页｜60 秒</a:t>
            </a:r>
          </a:p>
          <a:p>
            <a:r>
              <a:t>观测是决策时已知的状态，动作是下一步给控制器的命令。逐项相加：末端位置三维、四元数四维、夹爪两个关节位置两维、罐子位置三维、四元数四维，共十六维。位置使用世界坐标系和米，Z 轴向上；四元数顺序是 xyzw。原始物体向量十四维不等于策略使用十四维；当前适配器仅取 object[7:14] 的世界位姿，训练和执行时一致。夹爪两个关节位置是两维观测，不意味着两个独立策略动作。</a:t>
            </a:r>
          </a:p>
          <a:p/>
          <a:p>
            <a:r>
              <a:t>来源：</a:t>
            </a:r>
          </a:p>
          <a:p>
            <a:r>
              <a:t>notebooks/01_demonstrations.ipynb</a:t>
            </a:r>
          </a:p>
          <a:p>
            <a:r>
              <a:t>src/manipulation_lab/common.py</a:t>
            </a:r>
          </a:p>
          <a:p>
            <a:r>
              <a:t>evidence/dataset_inspection.json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 页｜60 秒</a:t>
            </a:r>
          </a:p>
          <a:p>
            <a:r>
              <a:t>动作七维分为三个平移增量、三个轴角旋转增量和一个夹爪命令。每维是归一化命令，不可直接把零点一解释成零点一米。平移缩放上限为五厘米，旋转为零点五弧度；例如平移命令零点二对应控制器请求的一厘米增量，实际末端运动仍受控制器和物理约束影响。夹爪命令正值闭合、负值张开；两个手指关节由同一个开合动作驱动。二十赫兹意味着每步五十毫秒，步号不是采集时间戳。</a:t>
            </a:r>
          </a:p>
          <a:p/>
          <a:p>
            <a:r>
              <a:t>来源：</a:t>
            </a:r>
          </a:p>
          <a:p>
            <a:r>
              <a:t>configs/environment.yaml</a:t>
            </a:r>
          </a:p>
          <a:p>
            <a:r>
              <a:t>notebooks/01_demonstrations.ipynb</a:t>
            </a:r>
          </a:p>
          <a:p>
            <a:r>
              <a:t>src/manipulation_lab/simulator.py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页｜45 秒</a:t>
            </a:r>
          </a:p>
          <a:p>
            <a:r>
              <a:t>本页是人类示教 demo_0 的四个记录状态，依次是四十、五十八、八十二和一百一十六步。它们展示靠近、闭合、搬运与放置的时序。下面横轴是示教动作索引，纵轴是归一化夹爪命令；正一表示闭合，负一表示张开。第一个正命令出现在动作索引五十二，动作与下一状态的对应仍要按记录定义理解。最终照片不能提供这些动作时序，也不能提供每个状态对应的专家标签。这里通过恢复记录状态得到示教画面，与学习策略的闭环运行不同。</a:t>
            </a:r>
          </a:p>
          <a:p/>
          <a:p>
            <a:r>
              <a:t>来源：</a:t>
            </a:r>
          </a:p>
          <a:p>
            <a:r>
              <a:t>replay_provenance.json</a:t>
            </a:r>
          </a:p>
          <a:p>
            <a:r>
              <a:t>evidence/demo_0_actions.json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 页｜60 秒</a:t>
            </a:r>
          </a:p>
          <a:p>
            <a:r>
              <a:t>行为克隆就是监督学习：输入当前十六维状态，输出七维动作，以对应的专家动作为标签，最小化所有动作分量的均方误差。优化器根据梯度更新网络权重。每个 epoch 遍历完整训练样本。归一化均值和标准差只用训练集计算；验证集只用于比较每轮模型，选验证误差最小的检查点；测试集不训练也不选模型。整条轨迹属于同一个划分，避免相邻高度相关的状态跨集合泄漏。</a:t>
            </a:r>
          </a:p>
          <a:p/>
          <a:p>
            <a:r>
              <a:t>来源：</a:t>
            </a:r>
          </a:p>
          <a:p>
            <a:r>
              <a:t>src/manipulation_lab/training.py</a:t>
            </a:r>
          </a:p>
          <a:p>
            <a:r>
              <a:t>src/manipulation_lab/policy.py</a:t>
            </a:r>
          </a:p>
          <a:p>
            <a:r>
              <a:t>evidence/dataset_inspection.json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7 页｜60 秒</a:t>
            </a:r>
          </a:p>
          <a:p>
            <a:r>
              <a:t>受控实验的意思是尽量让结果差异只来自一个预先声明的因素。这里两组都训练五十轮，种子十七、批大小二百五十六、网络结构、数据、初始化、设备与评测案例都相同，唯一改变的训练超参数是学习率。代码比较初始权重、数据划分版本和测试清单，四项检查全部通过。两组都是第十二轮验证误差最低，所以保存第十二轮模型。不要把训练预算五十轮误解为必须使用第五十轮模型。A 是测试前已经确定的主要分析对象。</a:t>
            </a:r>
          </a:p>
          <a:p/>
          <a:p>
            <a:r>
              <a:t>来源：</a:t>
            </a:r>
          </a:p>
          <a:p>
            <a:r>
              <a:t>evidence/experiment.json</a:t>
            </a:r>
          </a:p>
          <a:p>
            <a:r>
              <a:t>evidence/lr_a_training_config.json</a:t>
            </a:r>
          </a:p>
          <a:p>
            <a:r>
              <a:t>evidence/lr_b_training_config.json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8 页｜60 秒</a:t>
            </a:r>
          </a:p>
          <a:p>
            <a:r>
              <a:t>两个图分别表示训练集误差和验证集误差，蓝色始终是学习率零点零零一的 A，棕色始终是学习率零点零零零三的 B。横轴是训练轮次，纵轴是对归一化动作计算的均方误差。为了看清各自变化，两幅图的纵轴范围不同，不能用曲线在图上的高度直接跨图比较，必须读数值。两组验证误差均在第十二轮达到最低，而训练误差继续下降。第五十轮 A 的训练误差更低，只说明对训练示例拟合更紧，不代表它在闭环里一定更好。</a:t>
            </a:r>
          </a:p>
          <a:p/>
          <a:p>
            <a:r>
              <a:t>来源：</a:t>
            </a:r>
          </a:p>
          <a:p>
            <a:r>
              <a:t>evidence/lr_a_training_log.csv</a:t>
            </a:r>
          </a:p>
          <a:p>
            <a:r>
              <a:t>evidence/lr_b_training_log.csv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9 页｜60 秒</a:t>
            </a:r>
          </a:p>
          <a:p>
            <a:r>
              <a:t>直接比较同一次运行的真实数字。lr_a 第五十轮训练误差更低，但用于评测的是各自验证集选择的检查点；其标准条件和偏移条件均只有三次成功，lr_b 均为五次。由此不能用训练误差代替闭环任务指标。注意这不是在同一权重上只改变误差的因果实验，也不是统计意义上证明低学习率普遍更优。每种条件只有五个案例，一个案例就是二十个百分点；只有一个训练种子，配对的标准和偏移也不是独立样本。</a:t>
            </a:r>
          </a:p>
          <a:p/>
          <a:p>
            <a:r>
              <a:t>来源：</a:t>
            </a:r>
          </a:p>
          <a:p>
            <a:r>
              <a:t>evidence/lr_a_training_log.csv</a:t>
            </a:r>
          </a:p>
          <a:p>
            <a:r>
              <a:t>evidence/lr_b_training_log.csv</a:t>
            </a:r>
          </a:p>
          <a:p>
            <a:r>
              <a:t>evidence/lr_a_evaluation_summary.json</a:t>
            </a:r>
          </a:p>
          <a:p>
            <a:r>
              <a:t>evidence/lr_b_evaluation_summary.json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10 页｜60 秒</a:t>
            </a:r>
          </a:p>
          <a:p>
            <a:r>
              <a:t>灰点是训练示教的起始位置，每条轨迹一个点，不是整条运动路径。蓝色实心圆是标准测试起点，空心菱形是偏移后的起点，细线连接同一个配对案例。右侧只是世界 X 方向增加四厘米的概念示意。源状态和随机种子保持相同，偏移后的罐子仍需处在源料箱内部。这种扰动可以检查位置敏感性，但二维位置图省略了朝向、手臂与夹爪状态等输入，偏移后也可能落在训练位置覆盖内，因此不能当作严格的分布外泛化证明。</a:t>
            </a:r>
          </a:p>
          <a:p/>
          <a:p>
            <a:r>
              <a:t>来源：</a:t>
            </a:r>
          </a:p>
          <a:p>
            <a:r>
              <a:t>evidence/lr_a_test_manifest.json</a:t>
            </a:r>
          </a:p>
          <a:p>
            <a:r>
              <a:t>evidence/dataset_inspection.json</a:t>
            </a:r>
          </a:p>
          <a:p>
            <a:r>
              <a:t>src/manipulation_lab/teaching.py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11 页｜60 秒</a:t>
            </a:r>
          </a:p>
          <a:p>
            <a:r>
              <a:t>左图保留主要策略 A 的全部五个配对案例。圆点表示标准条件，空心菱形表示偏移条件，横轴是控制步。成功案例的数字是达到稳定放置的时刻；两个叉号在五百步位置，表示到了上限仍未成功，不能解释成较慢完成。所有配对的成败标签都没有改变，但 demo_185 从一百四十一步变为一百五十六步，增加十五步即零点七五秒。总成功率相同不等于运动过程完全相同。抓取几何可能是解释之一，但单看这张时间图还不能证明机制。</a:t>
            </a:r>
          </a:p>
          <a:p/>
          <a:p>
            <a:r>
              <a:t>来源：</a:t>
            </a:r>
          </a:p>
          <a:p>
            <a:r>
              <a:t>evidence/lr_a_paired_results.csv</a:t>
            </a:r>
          </a:p>
          <a:p>
            <a:r>
              <a:t>evidence/lr_b_paired_results.csv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12 页｜70 秒</a:t>
            </a:r>
          </a:p>
          <a:p>
            <a:r>
              <a:t>先播放原失败前一百零一步的高清重放，半速便于看清抓持过程。重放沿用已保存动作，没有重新调用策略；逐步比较位置、开口和接触等记录，全部与原轨迹一致。关键不在最终五百步没有完成，而在四十九至五十六步尚有接触，五十七步首次失去接触，随后罐子没有随夹爪持续上升。标注五十七步为最早有直接证据支持的接触丢失，不将其等同于最早因果错误。</a:t>
            </a:r>
          </a:p>
          <a:p/>
          <a:p>
            <a:r>
              <a:t>来源：</a:t>
            </a:r>
          </a:p>
          <a:p>
            <a:r>
              <a:t>results.json</a:t>
            </a:r>
          </a:p>
          <a:p>
            <a:r>
              <a:t>replay_provenance.json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13 页｜65 秒</a:t>
            </a:r>
          </a:p>
          <a:p>
            <a:r>
              <a:t>这四张图片不是放大低分辨率原视频，而是在同一个仿真初态下重放已保存动作，用更近的固定相机渲染。四个状态分别是四十五、五十三、五十七和六十五步。五十三步有接触；五十七步失去接触；六十五步夹爪几乎合拢并上升，而罐子仍留在桌面附近。图中开口为了易读转换成毫米，原始记录单位是米。红色强调的是原轨迹第57步，新的视角不改变证据的来源，也不能凭一张图断言确切根因。</a:t>
            </a:r>
          </a:p>
          <a:p/>
          <a:p>
            <a:r>
              <a:t>来源：</a:t>
            </a:r>
          </a:p>
          <a:p>
            <a:r>
              <a:t>results.json</a:t>
            </a:r>
          </a:p>
          <a:p>
            <a:r>
              <a:t>replay_provenance.json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14 页｜80 秒</a:t>
            </a:r>
          </a:p>
          <a:p>
            <a:r>
              <a:t>左侧三个坐标轴依次显示末端和罐子的世界高度、以毫米显示的夹爪开口、以及有无接触。红虚线都指向第五十七步，是人工根据原始记录标注的接触丢失，不是系统自动认定的根因。末端随后明显上升，罐子最高只比初始高五点七二毫米。右侧把事实、原因假设和检验方案分开：可疑因素包括对齐和闭合抬升时序；要检验时序，可从完全相同的预闭合仿真与控制器状态开始，只改变固定五步的闭合等待，然后恢复原策略。比较接触持续、罐子抬高和最终放置。本次没有执行这个干预，因此不能说已经修复。</a:t>
            </a:r>
          </a:p>
          <a:p/>
          <a:p>
            <a:r>
              <a:t>来源：</a:t>
            </a:r>
          </a:p>
          <a:p>
            <a:r>
              <a:t>evidence/failure_trace.npz</a:t>
            </a:r>
          </a:p>
          <a:p>
            <a:r>
              <a:t>evidence/failure_analysis.json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15 页｜45 秒</a:t>
            </a:r>
          </a:p>
          <a:p>
            <a:r>
              <a:t>最后回到学生提交要求。四份完成版 Notebook 保留真实输出，并补齐参考答案。完整证据包包括两组配置、模型、曲线、配对结果、视频和标注；另有两页参考报告。原学生模板和旧输出保留，不要求学生复制相同文字。这个结果只描述本次固定种子的仿真；没有真实机器人验证、没有多个独立训练种子的统计结论，也没有实施新算法验证原因。PPT 有可编辑文字与中文讲解备注，PDF 用于快速预览；教学电脑上的原生 PowerPoint 媒体播放仍需打开确认。</a:t>
            </a:r>
          </a:p>
          <a:p/>
          <a:p>
            <a:r>
              <a:t>来源：</a:t>
            </a:r>
          </a:p>
          <a:p>
            <a:r>
              <a:t>solution_execution.json</a:t>
            </a:r>
          </a:p>
          <a:p>
            <a:r>
              <a:t>replay_provenance.json</a:t>
            </a:r>
          </a:p>
          <a:p>
            <a:r>
              <a:t>verification.json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microsoft.com/office/2007/relationships/media" Target="../media/media2.mp4"/><Relationship Id="rId4" Type="http://schemas.openxmlformats.org/officeDocument/2006/relationships/video" Target="../media/media2.mp4"/><Relationship Id="rId5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image" Target="../media/image15.png"/><Relationship Id="rId6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29184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机器人操作学习实验 · 参考题解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620256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9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机器人操作学习 · 中文题解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44784" y="6565392"/>
            <a:ext cx="74980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01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33856"/>
            <a:ext cx="585216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4000" b="0">
                <a:solidFill>
                  <a:srgbClr val="252C30"/>
                </a:solidFill>
                <a:latin typeface="Lab Classroom Serif"/>
              </a:defRPr>
            </a:pPr>
            <a:r>
              <a:rPr lang="zh-CN" altLang="zh-CN">
                <a:ea typeface="Lab Classroom Serif"/>
              </a:rPr>
              <a:t>从示教学动作，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4000" b="0">
                <a:solidFill>
                  <a:srgbClr val="252C30"/>
                </a:solidFill>
                <a:latin typeface="Lab Classroom Serif"/>
              </a:defRPr>
            </a:pPr>
            <a:r>
              <a:rPr lang="zh-CN" altLang="zh-CN">
                <a:ea typeface="Lab Classroom Serif"/>
              </a:rPr>
              <a:t>到解释机器人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4000" b="0">
                <a:solidFill>
                  <a:srgbClr val="252C30"/>
                </a:solidFill>
                <a:latin typeface="Lab Classroom Serif"/>
              </a:defRPr>
            </a:pPr>
            <a:r>
              <a:rPr lang="zh-CN" altLang="zh-CN">
                <a:ea typeface="Lab Classroom Serif"/>
              </a:rPr>
              <a:t>为什么失败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123944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9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读数据 → 训练策略 → 配对评测 → 定位失败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882896"/>
            <a:ext cx="141732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36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32120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4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份完整 Notebook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2032" y="4882896"/>
            <a:ext cx="141732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36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5532120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4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种学习率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4882896"/>
            <a:ext cx="141732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36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532120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4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次实际评测</a:t>
            </a:r>
          </a:p>
        </p:txBody>
      </p:sp>
      <p:pic>
        <p:nvPicPr>
          <p:cNvPr id="13" name="Picture 12" descr="detail_065.png"/>
          <p:cNvPicPr>
            <a:picLocks noChangeAspect="1"/>
          </p:cNvPicPr>
          <p:nvPr/>
        </p:nvPicPr>
        <p:blipFill>
          <a:blip r:embed="rId3"/>
          <a:srcRect l="16152" r="18152"/>
          <a:stretch>
            <a:fillRect/>
          </a:stretch>
        </p:blipFill>
        <p:spPr>
          <a:xfrm>
            <a:off x="6656832" y="978408"/>
            <a:ext cx="4956048" cy="50292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903720" y="5367528"/>
            <a:ext cx="4370832" cy="356616"/>
          </a:xfrm>
          <a:prstGeom prst="rect">
            <a:avLst/>
          </a:prstGeom>
          <a:solidFill>
            <a:srgbClr val="B75A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59" y="5408676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真实轨迹：夹爪上升，罐子留下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29184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先看结果，再解释学习过程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96112"/>
            <a:ext cx="1104595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3200" b="0">
                <a:solidFill>
                  <a:srgbClr val="252C30"/>
                </a:solidFill>
                <a:latin typeface="Lab Classroom Serif"/>
              </a:defRPr>
            </a:pPr>
            <a:r>
              <a:rPr lang="zh-CN" altLang="zh-CN">
                <a:ea typeface="Lab Classroom Serif"/>
              </a:rPr>
              <a:t>任务完成，要看“松开以后”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620256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9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机器人操作学习 · 中文题解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4784" y="6565392"/>
            <a:ext cx="74980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02 / 15</a:t>
            </a:r>
          </a:p>
        </p:txBody>
      </p:sp>
      <p:pic>
        <p:nvPicPr>
          <p:cNvPr id="6" name="success_hd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21792" y="1810512"/>
            <a:ext cx="6949440" cy="3938016"/>
          </a:xfrm>
          <a:prstGeom prst="rect">
            <a:avLst/>
          </a:prstGeom>
          <a:effectLst/>
        </p:spPr>
      </p:pic>
      <p:sp>
        <p:nvSpPr>
          <p:cNvPr id="7" name="Rectangle 6"/>
          <p:cNvSpPr/>
          <p:nvPr/>
        </p:nvSpPr>
        <p:spPr>
          <a:xfrm>
            <a:off x="804672" y="5303520"/>
            <a:ext cx="5074920" cy="356616"/>
          </a:xfrm>
          <a:prstGeom prst="rect">
            <a:avLst/>
          </a:prstGeom>
          <a:solidFill>
            <a:srgbClr val="3F70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5344668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点击视频播放 · 按原动作半速重放</a:t>
            </a:r>
          </a:p>
        </p:txBody>
      </p:sp>
      <p:sp>
        <p:nvSpPr>
          <p:cNvPr id="9" name="Oval 8"/>
          <p:cNvSpPr/>
          <p:nvPr/>
        </p:nvSpPr>
        <p:spPr>
          <a:xfrm>
            <a:off x="7955279" y="1856231"/>
            <a:ext cx="320040" cy="320040"/>
          </a:xfrm>
          <a:prstGeom prst="ellipse">
            <a:avLst/>
          </a:prstGeom>
          <a:solidFill>
            <a:srgbClr val="3F7085"/>
          </a:solidFill>
          <a:ln w="25400">
            <a:solidFill>
              <a:srgbClr val="3F708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865376"/>
            <a:ext cx="228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9912" y="1847088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200" b="1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抓起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912" y="224028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夹爪带动物体离开桌面</a:t>
            </a:r>
          </a:p>
        </p:txBody>
      </p:sp>
      <p:sp>
        <p:nvSpPr>
          <p:cNvPr id="13" name="Oval 12"/>
          <p:cNvSpPr/>
          <p:nvPr/>
        </p:nvSpPr>
        <p:spPr>
          <a:xfrm>
            <a:off x="7955279" y="2688336"/>
            <a:ext cx="320040" cy="320040"/>
          </a:xfrm>
          <a:prstGeom prst="ellipse">
            <a:avLst/>
          </a:prstGeom>
          <a:solidFill>
            <a:srgbClr val="3F7085"/>
          </a:solidFill>
          <a:ln w="25400">
            <a:solidFill>
              <a:srgbClr val="3F708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2697480"/>
            <a:ext cx="228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912" y="2679192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200" b="1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放入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3072384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罐子进入目标区域并留有余量</a:t>
            </a:r>
          </a:p>
        </p:txBody>
      </p:sp>
      <p:sp>
        <p:nvSpPr>
          <p:cNvPr id="17" name="Oval 16"/>
          <p:cNvSpPr/>
          <p:nvPr/>
        </p:nvSpPr>
        <p:spPr>
          <a:xfrm>
            <a:off x="7955279" y="3520439"/>
            <a:ext cx="320040" cy="320040"/>
          </a:xfrm>
          <a:prstGeom prst="ellipse">
            <a:avLst/>
          </a:prstGeom>
          <a:solidFill>
            <a:srgbClr val="3F7085"/>
          </a:solidFill>
          <a:ln w="25400">
            <a:solidFill>
              <a:srgbClr val="3F708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3529584"/>
            <a:ext cx="228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3511296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200" b="1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松开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2" y="3904488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夹爪张开，而且不再接触罐子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4608576"/>
            <a:ext cx="329184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3000" b="1">
                <a:solidFill>
                  <a:srgbClr val="6C877D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再稳定 1 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0144" y="5266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位移 ≤ 1 cm · 速度 ≤ 5 cm/s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4360" y="5989320"/>
            <a:ext cx="11000232" cy="0"/>
          </a:xfrm>
          <a:prstGeom prst="line">
            <a:avLst/>
          </a:prstGeom>
          <a:ln w="12700">
            <a:solidFill>
              <a:srgbClr val="D6DBDA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640080" y="615391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9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这 1 秒里策略继续执行；抬起罐子只是任务的一步。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29184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观察量：决策时已知的信息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96112"/>
            <a:ext cx="1104595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3200" b="0">
                <a:solidFill>
                  <a:srgbClr val="252C30"/>
                </a:solidFill>
                <a:latin typeface="Lab Classroom Serif"/>
              </a:defRPr>
            </a:pPr>
            <a:r>
              <a:rPr lang="zh-CN" altLang="zh-CN">
                <a:ea typeface="Lab Classroom Serif"/>
              </a:rPr>
              <a:t>Q1｜机器人“看到”的，是 16 个状态值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620256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9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机器人操作学习 · 中文题解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4784" y="6565392"/>
            <a:ext cx="74980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03 / 15</a:t>
            </a:r>
          </a:p>
        </p:txBody>
      </p:sp>
      <p:pic>
        <p:nvPicPr>
          <p:cNvPr id="6" name="Picture 5" descr="detail_053.png"/>
          <p:cNvPicPr>
            <a:picLocks noChangeAspect="1"/>
          </p:cNvPicPr>
          <p:nvPr/>
        </p:nvPicPr>
        <p:blipFill>
          <a:blip r:embed="rId3"/>
          <a:srcRect l="7869" r="7869" t="8000" b="5000"/>
          <a:stretch>
            <a:fillRect/>
          </a:stretch>
        </p:blipFill>
        <p:spPr>
          <a:xfrm>
            <a:off x="612648" y="1755648"/>
            <a:ext cx="5486400" cy="377647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2860616" y="3402316"/>
            <a:ext cx="841248" cy="841248"/>
          </a:xfrm>
          <a:prstGeom prst="ellipse">
            <a:avLst/>
          </a:prstGeom>
          <a:noFill/>
          <a:ln w="34290">
            <a:solidFill>
              <a:srgbClr val="B66C4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3816" y="4992624"/>
            <a:ext cx="2514600" cy="356616"/>
          </a:xfrm>
          <a:prstGeom prst="rect">
            <a:avLst/>
          </a:prstGeom>
          <a:solidFill>
            <a:srgbClr val="B66C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503377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罐子的世界位姿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3090672" y="4206988"/>
            <a:ext cx="190568" cy="803924"/>
          </a:xfrm>
          <a:prstGeom prst="line">
            <a:avLst/>
          </a:prstGeom>
          <a:ln w="25400">
            <a:solidFill>
              <a:srgbClr val="B66C49"/>
            </a:solidFill>
          </a:ln>
          <a:effectLst/>
        </p:spPr>
      </p:cxnSp>
      <p:sp>
        <p:nvSpPr>
          <p:cNvPr id="11" name="Rectangle 10"/>
          <p:cNvSpPr/>
          <p:nvPr/>
        </p:nvSpPr>
        <p:spPr>
          <a:xfrm>
            <a:off x="6409944" y="1773936"/>
            <a:ext cx="5166360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0256" y="1874519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32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4927" y="1865376"/>
            <a:ext cx="3840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000" b="1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末端位置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34072" y="224942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世界 XYZ · 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9944" y="2706624"/>
            <a:ext cx="5166360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0256" y="2807208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32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4927" y="2798064"/>
            <a:ext cx="3840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000" b="1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末端朝向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4072" y="318211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四元数 · xyzw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9944" y="3639312"/>
            <a:ext cx="5166360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0256" y="3739896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3200" b="1">
                <a:solidFill>
                  <a:srgbClr val="6C877D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4927" y="3730752"/>
            <a:ext cx="3840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000" b="1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夹爪关节位置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34072" y="411480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两个手指的位置 · 米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9944" y="4572000"/>
            <a:ext cx="5166360" cy="813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0256" y="4672584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3200" b="1">
                <a:solidFill>
                  <a:srgbClr val="B66C49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4927" y="4663440"/>
            <a:ext cx="3840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000" b="1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罐子位姿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504748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位置 3 + 朝向 4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5989320"/>
            <a:ext cx="11000232" cy="0"/>
          </a:xfrm>
          <a:prstGeom prst="line">
            <a:avLst/>
          </a:prstGeom>
          <a:ln w="12700">
            <a:solidFill>
              <a:srgbClr val="D6DBDA"/>
            </a:solidFill>
          </a:ln>
          <a:effectLst/>
        </p:spPr>
      </p:cxnSp>
      <p:sp>
        <p:nvSpPr>
          <p:cNvPr id="28" name="TextBox 27"/>
          <p:cNvSpPr txBox="1"/>
          <p:nvPr/>
        </p:nvSpPr>
        <p:spPr>
          <a:xfrm>
            <a:off x="640080" y="615391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9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3 + 4 + 2 + 7 = 16；训练与执行都使用 object[7:14] 的世界位姿。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29184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动作：归一化命令与实际位移要分清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96112"/>
            <a:ext cx="1104595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3200" b="0">
                <a:solidFill>
                  <a:srgbClr val="252C30"/>
                </a:solidFill>
                <a:latin typeface="Lab Classroom Serif"/>
              </a:defRPr>
            </a:pPr>
            <a:r>
              <a:rPr lang="zh-CN" altLang="zh-CN">
                <a:ea typeface="Lab Classroom Serif"/>
              </a:rPr>
              <a:t>Q1｜7 维动作，是下一步的控制命令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620256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9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机器人操作学习 · 中文题解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4784" y="6565392"/>
            <a:ext cx="74980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04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1499616" cy="822960"/>
          </a:xfrm>
          <a:prstGeom prst="rect">
            <a:avLst/>
          </a:prstGeom>
          <a:solidFill>
            <a:srgbClr val="3F70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93392"/>
            <a:ext cx="1408176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2700" b="1">
                <a:solidFill>
                  <a:srgbClr val="FFFFFF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Δx</a:t>
            </a:r>
          </a:p>
        </p:txBody>
      </p:sp>
      <p:sp>
        <p:nvSpPr>
          <p:cNvPr id="8" name="Rectangle 7"/>
          <p:cNvSpPr/>
          <p:nvPr/>
        </p:nvSpPr>
        <p:spPr>
          <a:xfrm>
            <a:off x="2322576" y="1828800"/>
            <a:ext cx="1499616" cy="822960"/>
          </a:xfrm>
          <a:prstGeom prst="rect">
            <a:avLst/>
          </a:prstGeom>
          <a:solidFill>
            <a:srgbClr val="3F70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68296" y="1993392"/>
            <a:ext cx="1408176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2700" b="1">
                <a:solidFill>
                  <a:srgbClr val="FFFFFF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Δy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59352" y="1828800"/>
            <a:ext cx="1499616" cy="822960"/>
          </a:xfrm>
          <a:prstGeom prst="rect">
            <a:avLst/>
          </a:prstGeom>
          <a:solidFill>
            <a:srgbClr val="3F70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05072" y="1993392"/>
            <a:ext cx="1408176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2700" b="1">
                <a:solidFill>
                  <a:srgbClr val="FFFFFF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Δz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96128" y="1828800"/>
            <a:ext cx="1499616" cy="822960"/>
          </a:xfrm>
          <a:prstGeom prst="rect">
            <a:avLst/>
          </a:prstGeom>
          <a:solidFill>
            <a:srgbClr val="6C877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41848" y="1993392"/>
            <a:ext cx="1408176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2700" b="1">
                <a:solidFill>
                  <a:srgbClr val="FFFFFF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Δrx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32904" y="1828800"/>
            <a:ext cx="1499616" cy="822960"/>
          </a:xfrm>
          <a:prstGeom prst="rect">
            <a:avLst/>
          </a:prstGeom>
          <a:solidFill>
            <a:srgbClr val="6C877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78624" y="1993392"/>
            <a:ext cx="1408176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2700" b="1">
                <a:solidFill>
                  <a:srgbClr val="FFFFFF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Δry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1828800"/>
            <a:ext cx="1499616" cy="822960"/>
          </a:xfrm>
          <a:prstGeom prst="rect">
            <a:avLst/>
          </a:prstGeom>
          <a:solidFill>
            <a:srgbClr val="6C877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1993392"/>
            <a:ext cx="1408176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2700" b="1">
                <a:solidFill>
                  <a:srgbClr val="FFFFFF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Δrz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06456" y="1828800"/>
            <a:ext cx="1499616" cy="822960"/>
          </a:xfrm>
          <a:prstGeom prst="rect">
            <a:avLst/>
          </a:prstGeom>
          <a:solidFill>
            <a:srgbClr val="B66C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52176" y="1993392"/>
            <a:ext cx="1408176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2700" b="1">
                <a:solidFill>
                  <a:srgbClr val="FFFFFF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开 / 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2834640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3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平移增量 ×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3310128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8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世界坐标 · 上限 ±0.05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59552" y="2834640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300" b="1">
                <a:solidFill>
                  <a:srgbClr val="6C877D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旋转增量 ×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59552" y="3310128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8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轴角表示 · 上限 ±0.5 rad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" y="4133087"/>
            <a:ext cx="5687568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53128"/>
            <a:ext cx="22494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500" b="1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平移命令 0.2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246120" y="4681728"/>
            <a:ext cx="594360" cy="0"/>
          </a:xfrm>
          <a:prstGeom prst="line">
            <a:avLst/>
          </a:prstGeom>
          <a:ln w="38100">
            <a:solidFill>
              <a:srgbClr val="3F7085"/>
            </a:solidFill>
            <a:tailEnd type="triangle"/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4069080" y="4453128"/>
            <a:ext cx="21671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请求 1 cm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" y="5093208"/>
            <a:ext cx="5102352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实际位移还受动力学与接触影响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0" y="4133087"/>
            <a:ext cx="4910328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40296" y="4389120"/>
            <a:ext cx="128016" cy="804672"/>
          </a:xfrm>
          <a:prstGeom prst="rect">
            <a:avLst/>
          </a:prstGeom>
          <a:solidFill>
            <a:srgbClr val="252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29016" y="4389120"/>
            <a:ext cx="128016" cy="804672"/>
          </a:xfrm>
          <a:prstGeom prst="rect">
            <a:avLst/>
          </a:prstGeom>
          <a:solidFill>
            <a:srgbClr val="252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7178040" y="4754880"/>
            <a:ext cx="320039" cy="0"/>
          </a:xfrm>
          <a:prstGeom prst="line">
            <a:avLst/>
          </a:prstGeom>
          <a:ln w="38100">
            <a:solidFill>
              <a:srgbClr val="B66C49"/>
            </a:solidFill>
            <a:tailEnd type="triangle"/>
          </a:ln>
          <a:effectLst/>
        </p:spPr>
      </p:cxnSp>
      <p:cxnSp>
        <p:nvCxnSpPr>
          <p:cNvPr id="33" name="Connector 32"/>
          <p:cNvCxnSpPr/>
          <p:nvPr/>
        </p:nvCxnSpPr>
        <p:spPr>
          <a:xfrm flipH="1">
            <a:off x="7726679" y="4754880"/>
            <a:ext cx="310896" cy="0"/>
          </a:xfrm>
          <a:prstGeom prst="line">
            <a:avLst/>
          </a:prstGeom>
          <a:ln w="38100">
            <a:solidFill>
              <a:srgbClr val="B66C49"/>
            </a:solidFill>
            <a:tailEnd type="triangle"/>
          </a:ln>
          <a:effectLst/>
        </p:spPr>
      </p:cxnSp>
      <p:sp>
        <p:nvSpPr>
          <p:cNvPr id="34" name="TextBox 33"/>
          <p:cNvSpPr txBox="1"/>
          <p:nvPr/>
        </p:nvSpPr>
        <p:spPr>
          <a:xfrm>
            <a:off x="8485632" y="4325112"/>
            <a:ext cx="283464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000" b="1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两个关节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2000" b="1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一个开合命令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85632" y="515721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正值闭合 · 负值张开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94360" y="5989320"/>
            <a:ext cx="11000232" cy="0"/>
          </a:xfrm>
          <a:prstGeom prst="line">
            <a:avLst/>
          </a:prstGeom>
          <a:ln w="12700">
            <a:solidFill>
              <a:srgbClr val="D6DBDA"/>
            </a:solidFill>
          </a:ln>
          <a:effectLst/>
        </p:spPr>
      </p:cxnSp>
      <p:sp>
        <p:nvSpPr>
          <p:cNvPr id="37" name="TextBox 36"/>
          <p:cNvSpPr txBox="1"/>
          <p:nvPr/>
        </p:nvSpPr>
        <p:spPr>
          <a:xfrm>
            <a:off x="640080" y="615391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9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控制频率 20 Hz：每步 0.05 秒；夹爪命令无量纲，测得的开口用米表示。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29184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人类示教 demo_0 · 118 个记录步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96112"/>
            <a:ext cx="1104595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3200" b="0">
                <a:solidFill>
                  <a:srgbClr val="252C30"/>
                </a:solidFill>
                <a:latin typeface="Lab Classroom Serif"/>
              </a:defRPr>
            </a:pPr>
            <a:r>
              <a:rPr lang="zh-CN" altLang="zh-CN">
                <a:ea typeface="Lab Classroom Serif"/>
              </a:rPr>
              <a:t>Q1｜轨迹告诉我们“先做什么，再做什么”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620256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9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机器人操作学习 · 中文题解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4784" y="6565392"/>
            <a:ext cx="74980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05 / 15</a:t>
            </a:r>
          </a:p>
        </p:txBody>
      </p:sp>
      <p:pic>
        <p:nvPicPr>
          <p:cNvPr id="6" name="Picture 5" descr="demo_040.png"/>
          <p:cNvPicPr>
            <a:picLocks noChangeAspect="1"/>
          </p:cNvPicPr>
          <p:nvPr/>
        </p:nvPicPr>
        <p:blipFill>
          <a:blip r:embed="rId3"/>
          <a:srcRect l="6137" r="6137"/>
          <a:stretch>
            <a:fillRect/>
          </a:stretch>
        </p:blipFill>
        <p:spPr>
          <a:xfrm>
            <a:off x="621792" y="1810512"/>
            <a:ext cx="2752344" cy="176479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04088" y="3163824"/>
            <a:ext cx="2496312" cy="356616"/>
          </a:xfrm>
          <a:prstGeom prst="rect">
            <a:avLst/>
          </a:prstGeom>
          <a:solidFill>
            <a:srgbClr val="3F70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3204972"/>
            <a:ext cx="23134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靠近 · 状态 40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01568" y="2569464"/>
            <a:ext cx="82296" cy="0"/>
          </a:xfrm>
          <a:prstGeom prst="line">
            <a:avLst/>
          </a:prstGeom>
          <a:ln w="25400">
            <a:solidFill>
              <a:srgbClr val="3F7085"/>
            </a:solidFill>
            <a:tailEnd type="triangle"/>
          </a:ln>
          <a:effectLst/>
        </p:spPr>
      </p:cxnSp>
      <p:pic>
        <p:nvPicPr>
          <p:cNvPr id="10" name="Picture 9" descr="demo_058.png"/>
          <p:cNvPicPr>
            <a:picLocks noChangeAspect="1"/>
          </p:cNvPicPr>
          <p:nvPr/>
        </p:nvPicPr>
        <p:blipFill>
          <a:blip r:embed="rId4"/>
          <a:srcRect l="6137" r="6137"/>
          <a:stretch>
            <a:fillRect/>
          </a:stretch>
        </p:blipFill>
        <p:spPr>
          <a:xfrm>
            <a:off x="3511296" y="1810512"/>
            <a:ext cx="2752344" cy="176479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593592" y="3163824"/>
            <a:ext cx="2496312" cy="356616"/>
          </a:xfrm>
          <a:prstGeom prst="rect">
            <a:avLst/>
          </a:prstGeom>
          <a:solidFill>
            <a:srgbClr val="3F70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2" y="3204972"/>
            <a:ext cx="23134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闭合 · 状态 58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91072" y="2569464"/>
            <a:ext cx="82296" cy="0"/>
          </a:xfrm>
          <a:prstGeom prst="line">
            <a:avLst/>
          </a:prstGeom>
          <a:ln w="25400">
            <a:solidFill>
              <a:srgbClr val="3F7085"/>
            </a:solidFill>
            <a:tailEnd type="triangle"/>
          </a:ln>
          <a:effectLst/>
        </p:spPr>
      </p:cxnSp>
      <p:pic>
        <p:nvPicPr>
          <p:cNvPr id="14" name="Picture 13" descr="demo_082.png"/>
          <p:cNvPicPr>
            <a:picLocks noChangeAspect="1"/>
          </p:cNvPicPr>
          <p:nvPr/>
        </p:nvPicPr>
        <p:blipFill>
          <a:blip r:embed="rId5"/>
          <a:srcRect l="6137" r="6137"/>
          <a:stretch>
            <a:fillRect/>
          </a:stretch>
        </p:blipFill>
        <p:spPr>
          <a:xfrm>
            <a:off x="6400800" y="1810512"/>
            <a:ext cx="2752344" cy="176479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483096" y="3163824"/>
            <a:ext cx="2496312" cy="356616"/>
          </a:xfrm>
          <a:prstGeom prst="rect">
            <a:avLst/>
          </a:prstGeom>
          <a:solidFill>
            <a:srgbClr val="3F70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74536" y="3204972"/>
            <a:ext cx="23134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搬运 · 状态 82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80576" y="2569464"/>
            <a:ext cx="82296" cy="0"/>
          </a:xfrm>
          <a:prstGeom prst="line">
            <a:avLst/>
          </a:prstGeom>
          <a:ln w="25400">
            <a:solidFill>
              <a:srgbClr val="3F7085"/>
            </a:solidFill>
            <a:tailEnd type="triangle"/>
          </a:ln>
          <a:effectLst/>
        </p:spPr>
      </p:cxnSp>
      <p:pic>
        <p:nvPicPr>
          <p:cNvPr id="18" name="Picture 17" descr="demo_116.png"/>
          <p:cNvPicPr>
            <a:picLocks noChangeAspect="1"/>
          </p:cNvPicPr>
          <p:nvPr/>
        </p:nvPicPr>
        <p:blipFill>
          <a:blip r:embed="rId6"/>
          <a:srcRect l="6137" r="6137"/>
          <a:stretch>
            <a:fillRect/>
          </a:stretch>
        </p:blipFill>
        <p:spPr>
          <a:xfrm>
            <a:off x="9290304" y="1810512"/>
            <a:ext cx="2752344" cy="1764792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9372600" y="3163824"/>
            <a:ext cx="2496312" cy="356616"/>
          </a:xfrm>
          <a:prstGeom prst="rect">
            <a:avLst/>
          </a:prstGeom>
          <a:solidFill>
            <a:srgbClr val="3F70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40" y="3204972"/>
            <a:ext cx="23134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放置 · 状态 116</a:t>
            </a:r>
          </a:p>
        </p:txBody>
      </p:sp>
      <p:pic>
        <p:nvPicPr>
          <p:cNvPr id="21" name="Picture 20" descr="demo_action_z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3936491"/>
            <a:ext cx="10789920" cy="1618488"/>
          </a:xfrm>
          <a:prstGeom prst="rect">
            <a:avLst/>
          </a:prstGeom>
        </p:spPr>
      </p:pic>
      <p:cxnSp>
        <p:nvCxnSpPr>
          <p:cNvPr id="22" name="Connector 21"/>
          <p:cNvCxnSpPr/>
          <p:nvPr/>
        </p:nvCxnSpPr>
        <p:spPr>
          <a:xfrm>
            <a:off x="594360" y="5989320"/>
            <a:ext cx="11000232" cy="0"/>
          </a:xfrm>
          <a:prstGeom prst="line">
            <a:avLst/>
          </a:prstGeom>
          <a:ln w="12700">
            <a:solidFill>
              <a:srgbClr val="D6DBDA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640080" y="615391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9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最终照片没有动作时序；示教轨迹提供“当前观察 → 专家动作”的训练样本。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29184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行为克隆（BC）：把示教变成监督学习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96112"/>
            <a:ext cx="1104595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3200" b="0">
                <a:solidFill>
                  <a:srgbClr val="252C30"/>
                </a:solidFill>
                <a:latin typeface="Lab Classroom Serif"/>
              </a:defRPr>
            </a:pPr>
            <a:r>
              <a:rPr lang="zh-CN" altLang="zh-CN">
                <a:ea typeface="Lab Classroom Serif"/>
              </a:rPr>
              <a:t>Q2｜行为克隆：根据状态，预测专家动作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620256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9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机器人操作学习 · 中文题解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4784" y="6565392"/>
            <a:ext cx="74980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06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1883664"/>
            <a:ext cx="2816352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093976"/>
            <a:ext cx="24871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4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输入：16 维观察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679192"/>
            <a:ext cx="248716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只用训练集统计量归一化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3959352" y="1883664"/>
            <a:ext cx="3410712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33088" y="2093976"/>
            <a:ext cx="30815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400" b="1">
                <a:solidFill>
                  <a:srgbClr val="6C877D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策略网络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33088" y="2679192"/>
            <a:ext cx="308152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三层隐藏层：256 → 256 → 256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36408" y="1883664"/>
            <a:ext cx="3666744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0144" y="2093976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400" b="1">
                <a:solidFill>
                  <a:srgbClr val="B66C49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输出：7 维动作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0144" y="2679192"/>
            <a:ext cx="33375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与同一时刻的专家动作比较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66160" y="2514600"/>
            <a:ext cx="310896" cy="0"/>
          </a:xfrm>
          <a:prstGeom prst="line">
            <a:avLst/>
          </a:prstGeom>
          <a:ln w="29209">
            <a:solidFill>
              <a:srgbClr val="3F7085"/>
            </a:solidFill>
            <a:tailEnd type="triangle"/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7415783" y="2514600"/>
            <a:ext cx="338329" cy="0"/>
          </a:xfrm>
          <a:prstGeom prst="line">
            <a:avLst/>
          </a:prstGeom>
          <a:ln w="29209">
            <a:solidFill>
              <a:srgbClr val="6C877D"/>
            </a:solidFill>
            <a:tailEnd type="triangle"/>
          </a:ln>
          <a:effectLst/>
        </p:spPr>
      </p:cxnSp>
      <p:pic>
        <p:nvPicPr>
          <p:cNvPr id="17" name="Picture 16" descr="bc_equ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2205" y="3456432"/>
            <a:ext cx="3479404" cy="7772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2104" y="4471416"/>
            <a:ext cx="1060704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8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o：观察　a*：专家动作　πθ：策略　N：样本数；对 7 个动作分量取均值。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" y="5001768"/>
            <a:ext cx="7936992" cy="557784"/>
          </a:xfrm>
          <a:prstGeom prst="rect">
            <a:avLst/>
          </a:prstGeom>
          <a:solidFill>
            <a:srgbClr val="3F70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5120640"/>
            <a:ext cx="7754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训练 160 条：学习权重与归一化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5001768"/>
            <a:ext cx="1298448" cy="557784"/>
          </a:xfrm>
          <a:prstGeom prst="rect">
            <a:avLst/>
          </a:prstGeom>
          <a:solidFill>
            <a:srgbClr val="6C877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5120640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验证 20 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13263" y="5001768"/>
            <a:ext cx="1298448" cy="557784"/>
          </a:xfrm>
          <a:prstGeom prst="rect">
            <a:avLst/>
          </a:prstGeom>
          <a:solidFill>
            <a:srgbClr val="B66C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04703" y="5120640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测试 20 条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4360" y="5989320"/>
            <a:ext cx="11000232" cy="0"/>
          </a:xfrm>
          <a:prstGeom prst="line">
            <a:avLst/>
          </a:prstGeom>
          <a:ln w="12700">
            <a:solidFill>
              <a:srgbClr val="D6DBDA"/>
            </a:solidFill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640080" y="615391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9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整条轨迹进入同一个集合；验证集选检查点，测试集只用于评测。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29184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受控实验：变化来自哪一个因素？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96112"/>
            <a:ext cx="1104595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3200" b="0">
                <a:solidFill>
                  <a:srgbClr val="252C30"/>
                </a:solidFill>
                <a:latin typeface="Lab Classroom Serif"/>
              </a:defRPr>
            </a:pPr>
            <a:r>
              <a:rPr lang="zh-CN" altLang="zh-CN">
                <a:ea typeface="Lab Classroom Serif"/>
              </a:rPr>
              <a:t>Q2｜只改学习率，其他条件保持一致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620256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9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机器人操作学习 · 中文题解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4784" y="6565392"/>
            <a:ext cx="74980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07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" y="1810512"/>
            <a:ext cx="10881360" cy="676656"/>
          </a:xfrm>
          <a:prstGeom prst="rect">
            <a:avLst/>
          </a:prstGeom>
          <a:solidFill>
            <a:srgbClr val="3F70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02536"/>
            <a:ext cx="104241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900" b="0">
                <a:solidFill>
                  <a:srgbClr val="FFFFFF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固定：相同数据与初始权重  /  种子 17  /  批大小 256  /  相同网络与设备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" y="2770632"/>
            <a:ext cx="5248656" cy="21579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7824" y="2962656"/>
            <a:ext cx="1618488" cy="356616"/>
          </a:xfrm>
          <a:prstGeom prst="rect">
            <a:avLst/>
          </a:prstGeom>
          <a:solidFill>
            <a:srgbClr val="3F70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3003804"/>
            <a:ext cx="1435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A · lr_a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639312"/>
            <a:ext cx="13167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0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学习率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3432" y="3346704"/>
            <a:ext cx="32826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48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0.001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437997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200" b="1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训练 50 轮 → 保存第 12 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18504" y="2770632"/>
            <a:ext cx="5248656" cy="21579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19672" y="2962656"/>
            <a:ext cx="1618488" cy="356616"/>
          </a:xfrm>
          <a:prstGeom prst="rect">
            <a:avLst/>
          </a:prstGeom>
          <a:solidFill>
            <a:srgbClr val="B66C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2" y="3003804"/>
            <a:ext cx="1435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B · lr_b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639312"/>
            <a:ext cx="13167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0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学习率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346704"/>
            <a:ext cx="32826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4800" b="1">
                <a:solidFill>
                  <a:srgbClr val="B66C49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0.0003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437997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200" b="1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训练 50 轮 → 保存第 12 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26694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000" b="1">
                <a:solidFill>
                  <a:srgbClr val="6C877D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相同 5 个标准案例 + 5 个位置偏移案例；4 项一致性检查全部通过。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4360" y="5989320"/>
            <a:ext cx="11000232" cy="0"/>
          </a:xfrm>
          <a:prstGeom prst="line">
            <a:avLst/>
          </a:prstGeom>
          <a:ln w="12700">
            <a:solidFill>
              <a:srgbClr val="D6DBDA"/>
            </a:solidFill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640080" y="615391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9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A 在测试前已固定为主要分析模型；检查点按验证误差选择。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29184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读曲线：蓝色 A，棕色 B；两个图的纵轴范围各自标明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96112"/>
            <a:ext cx="1104595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3200" b="0">
                <a:solidFill>
                  <a:srgbClr val="252C30"/>
                </a:solidFill>
                <a:latin typeface="Lab Classroom Serif"/>
              </a:defRPr>
            </a:pPr>
            <a:r>
              <a:rPr lang="zh-CN" altLang="zh-CN">
                <a:ea typeface="Lab Classroom Serif"/>
              </a:rPr>
              <a:t>Q3｜训练还在变好，验证误差却不再下降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620256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9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机器人操作学习 · 中文题解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4784" y="6565392"/>
            <a:ext cx="74980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08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719072"/>
            <a:ext cx="10881360" cy="3520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losses_z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780896"/>
            <a:ext cx="10808208" cy="33876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3816" y="5394960"/>
            <a:ext cx="303580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8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第 50 轮训练误差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5330952"/>
            <a:ext cx="68580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A 0.01772  &lt;  B 0.02092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" y="5989320"/>
            <a:ext cx="11000232" cy="0"/>
          </a:xfrm>
          <a:prstGeom prst="line">
            <a:avLst/>
          </a:prstGeom>
          <a:ln w="12700">
            <a:solidFill>
              <a:srgbClr val="D6DBDA"/>
            </a:solidFill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640080" y="615391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9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最低验证误差均在第 12 轮；继续降低训练误差，不代表新状态上的表现改善。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29184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任务表现：每一颗圆点代表一次真实评测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96112"/>
            <a:ext cx="1104595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3200" b="0">
                <a:solidFill>
                  <a:srgbClr val="252C30"/>
                </a:solidFill>
                <a:latin typeface="Lab Classroom Serif"/>
              </a:defRPr>
            </a:pPr>
            <a:r>
              <a:rPr lang="zh-CN" altLang="zh-CN">
                <a:ea typeface="Lab Classroom Serif"/>
              </a:rPr>
              <a:t>Q3｜训练误差更低，放置成功次数却更少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620256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9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机器人操作学习 · 中文题解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4784" y="6565392"/>
            <a:ext cx="74980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09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828800"/>
            <a:ext cx="3154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300" b="1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标准条件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73568" y="1828800"/>
            <a:ext cx="3154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300" b="1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位置偏移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770632"/>
            <a:ext cx="25420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7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A · 0.001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2724912"/>
            <a:ext cx="310896" cy="310896"/>
          </a:xfrm>
          <a:prstGeom prst="ellipse">
            <a:avLst/>
          </a:prstGeom>
          <a:noFill/>
          <a:ln w="25400">
            <a:solidFill>
              <a:srgbClr val="626B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3703320" y="2770632"/>
            <a:ext cx="219456" cy="219456"/>
          </a:xfrm>
          <a:prstGeom prst="line">
            <a:avLst/>
          </a:prstGeom>
          <a:ln w="17780">
            <a:solidFill>
              <a:srgbClr val="626B70"/>
            </a:solidFill>
          </a:ln>
          <a:effectLst/>
        </p:spPr>
      </p:cxnSp>
      <p:sp>
        <p:nvSpPr>
          <p:cNvPr id="11" name="Oval 10"/>
          <p:cNvSpPr/>
          <p:nvPr/>
        </p:nvSpPr>
        <p:spPr>
          <a:xfrm>
            <a:off x="4114800" y="2724912"/>
            <a:ext cx="310896" cy="310896"/>
          </a:xfrm>
          <a:prstGeom prst="ellipse">
            <a:avLst/>
          </a:prstGeom>
          <a:solidFill>
            <a:srgbClr val="6C877D"/>
          </a:solidFill>
          <a:ln w="25400">
            <a:solidFill>
              <a:srgbClr val="6C87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0" y="2724912"/>
            <a:ext cx="310896" cy="310896"/>
          </a:xfrm>
          <a:prstGeom prst="ellipse">
            <a:avLst/>
          </a:prstGeom>
          <a:solidFill>
            <a:srgbClr val="6C877D"/>
          </a:solidFill>
          <a:ln w="25400">
            <a:solidFill>
              <a:srgbClr val="6C87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029200" y="2724912"/>
            <a:ext cx="310896" cy="310896"/>
          </a:xfrm>
          <a:prstGeom prst="ellipse">
            <a:avLst/>
          </a:prstGeom>
          <a:noFill/>
          <a:ln w="25400">
            <a:solidFill>
              <a:srgbClr val="626B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5074920" y="2770632"/>
            <a:ext cx="219456" cy="219456"/>
          </a:xfrm>
          <a:prstGeom prst="line">
            <a:avLst/>
          </a:prstGeom>
          <a:ln w="17780">
            <a:solidFill>
              <a:srgbClr val="626B70"/>
            </a:solidFill>
          </a:ln>
          <a:effectLst/>
        </p:spPr>
      </p:cxnSp>
      <p:sp>
        <p:nvSpPr>
          <p:cNvPr id="15" name="Oval 14"/>
          <p:cNvSpPr/>
          <p:nvPr/>
        </p:nvSpPr>
        <p:spPr>
          <a:xfrm>
            <a:off x="5486400" y="2724912"/>
            <a:ext cx="310896" cy="310896"/>
          </a:xfrm>
          <a:prstGeom prst="ellipse">
            <a:avLst/>
          </a:prstGeom>
          <a:solidFill>
            <a:srgbClr val="6C877D"/>
          </a:solidFill>
          <a:ln w="25400">
            <a:solidFill>
              <a:srgbClr val="6C87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2551176"/>
            <a:ext cx="134416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4000" b="1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3/5</a:t>
            </a:r>
          </a:p>
        </p:txBody>
      </p:sp>
      <p:sp>
        <p:nvSpPr>
          <p:cNvPr id="17" name="Oval 16"/>
          <p:cNvSpPr/>
          <p:nvPr/>
        </p:nvSpPr>
        <p:spPr>
          <a:xfrm>
            <a:off x="7900416" y="2724912"/>
            <a:ext cx="310896" cy="310896"/>
          </a:xfrm>
          <a:prstGeom prst="ellipse">
            <a:avLst/>
          </a:prstGeom>
          <a:noFill/>
          <a:ln w="25400">
            <a:solidFill>
              <a:srgbClr val="626B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7946136" y="2770632"/>
            <a:ext cx="219456" cy="219456"/>
          </a:xfrm>
          <a:prstGeom prst="line">
            <a:avLst/>
          </a:prstGeom>
          <a:ln w="17780">
            <a:solidFill>
              <a:srgbClr val="626B70"/>
            </a:solidFill>
          </a:ln>
          <a:effectLst/>
        </p:spPr>
      </p:cxnSp>
      <p:sp>
        <p:nvSpPr>
          <p:cNvPr id="19" name="Oval 18"/>
          <p:cNvSpPr/>
          <p:nvPr/>
        </p:nvSpPr>
        <p:spPr>
          <a:xfrm>
            <a:off x="8357616" y="2724912"/>
            <a:ext cx="310896" cy="310896"/>
          </a:xfrm>
          <a:prstGeom prst="ellipse">
            <a:avLst/>
          </a:prstGeom>
          <a:solidFill>
            <a:srgbClr val="6C877D"/>
          </a:solidFill>
          <a:ln w="25400">
            <a:solidFill>
              <a:srgbClr val="6C87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814816" y="2724912"/>
            <a:ext cx="310896" cy="310896"/>
          </a:xfrm>
          <a:prstGeom prst="ellipse">
            <a:avLst/>
          </a:prstGeom>
          <a:solidFill>
            <a:srgbClr val="6C877D"/>
          </a:solidFill>
          <a:ln w="25400">
            <a:solidFill>
              <a:srgbClr val="6C87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72016" y="2724912"/>
            <a:ext cx="310896" cy="310896"/>
          </a:xfrm>
          <a:prstGeom prst="ellipse">
            <a:avLst/>
          </a:prstGeom>
          <a:noFill/>
          <a:ln w="25400">
            <a:solidFill>
              <a:srgbClr val="626B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9317736" y="2770632"/>
            <a:ext cx="219456" cy="219456"/>
          </a:xfrm>
          <a:prstGeom prst="line">
            <a:avLst/>
          </a:prstGeom>
          <a:ln w="17780">
            <a:solidFill>
              <a:srgbClr val="626B70"/>
            </a:solidFill>
          </a:ln>
          <a:effectLst/>
        </p:spPr>
      </p:cxnSp>
      <p:sp>
        <p:nvSpPr>
          <p:cNvPr id="23" name="Oval 22"/>
          <p:cNvSpPr/>
          <p:nvPr/>
        </p:nvSpPr>
        <p:spPr>
          <a:xfrm>
            <a:off x="9729216" y="2724912"/>
            <a:ext cx="310896" cy="310896"/>
          </a:xfrm>
          <a:prstGeom prst="ellipse">
            <a:avLst/>
          </a:prstGeom>
          <a:solidFill>
            <a:srgbClr val="6C877D"/>
          </a:solidFill>
          <a:ln w="25400">
            <a:solidFill>
              <a:srgbClr val="6C87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87584" y="2551176"/>
            <a:ext cx="134416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4000" b="1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3/5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" y="4187952"/>
            <a:ext cx="25420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700" b="1">
                <a:solidFill>
                  <a:srgbClr val="B66C49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B · 0.0003</a:t>
            </a:r>
          </a:p>
        </p:txBody>
      </p:sp>
      <p:sp>
        <p:nvSpPr>
          <p:cNvPr id="26" name="Oval 25"/>
          <p:cNvSpPr/>
          <p:nvPr/>
        </p:nvSpPr>
        <p:spPr>
          <a:xfrm>
            <a:off x="3657600" y="4142232"/>
            <a:ext cx="310896" cy="310896"/>
          </a:xfrm>
          <a:prstGeom prst="ellipse">
            <a:avLst/>
          </a:prstGeom>
          <a:solidFill>
            <a:srgbClr val="6C877D"/>
          </a:solidFill>
          <a:ln w="25400">
            <a:solidFill>
              <a:srgbClr val="6C87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14800" y="4142232"/>
            <a:ext cx="310896" cy="310896"/>
          </a:xfrm>
          <a:prstGeom prst="ellipse">
            <a:avLst/>
          </a:prstGeom>
          <a:solidFill>
            <a:srgbClr val="6C877D"/>
          </a:solidFill>
          <a:ln w="25400">
            <a:solidFill>
              <a:srgbClr val="6C87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72000" y="4142232"/>
            <a:ext cx="310896" cy="310896"/>
          </a:xfrm>
          <a:prstGeom prst="ellipse">
            <a:avLst/>
          </a:prstGeom>
          <a:solidFill>
            <a:srgbClr val="6C877D"/>
          </a:solidFill>
          <a:ln w="25400">
            <a:solidFill>
              <a:srgbClr val="6C87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029200" y="4142232"/>
            <a:ext cx="310896" cy="310896"/>
          </a:xfrm>
          <a:prstGeom prst="ellipse">
            <a:avLst/>
          </a:prstGeom>
          <a:solidFill>
            <a:srgbClr val="6C877D"/>
          </a:solidFill>
          <a:ln w="25400">
            <a:solidFill>
              <a:srgbClr val="6C87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486400" y="4142232"/>
            <a:ext cx="310896" cy="310896"/>
          </a:xfrm>
          <a:prstGeom prst="ellipse">
            <a:avLst/>
          </a:prstGeom>
          <a:solidFill>
            <a:srgbClr val="6C877D"/>
          </a:solidFill>
          <a:ln w="25400">
            <a:solidFill>
              <a:srgbClr val="6C87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44768" y="3968496"/>
            <a:ext cx="134416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4000" b="1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5/5</a:t>
            </a:r>
          </a:p>
        </p:txBody>
      </p:sp>
      <p:sp>
        <p:nvSpPr>
          <p:cNvPr id="32" name="Oval 31"/>
          <p:cNvSpPr/>
          <p:nvPr/>
        </p:nvSpPr>
        <p:spPr>
          <a:xfrm>
            <a:off x="7900416" y="4142232"/>
            <a:ext cx="310896" cy="310896"/>
          </a:xfrm>
          <a:prstGeom prst="ellipse">
            <a:avLst/>
          </a:prstGeom>
          <a:solidFill>
            <a:srgbClr val="6C877D"/>
          </a:solidFill>
          <a:ln w="25400">
            <a:solidFill>
              <a:srgbClr val="6C87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57616" y="4142232"/>
            <a:ext cx="310896" cy="310896"/>
          </a:xfrm>
          <a:prstGeom prst="ellipse">
            <a:avLst/>
          </a:prstGeom>
          <a:solidFill>
            <a:srgbClr val="6C877D"/>
          </a:solidFill>
          <a:ln w="25400">
            <a:solidFill>
              <a:srgbClr val="6C87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814816" y="4142232"/>
            <a:ext cx="310896" cy="310896"/>
          </a:xfrm>
          <a:prstGeom prst="ellipse">
            <a:avLst/>
          </a:prstGeom>
          <a:solidFill>
            <a:srgbClr val="6C877D"/>
          </a:solidFill>
          <a:ln w="25400">
            <a:solidFill>
              <a:srgbClr val="6C87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272016" y="4142232"/>
            <a:ext cx="310896" cy="310896"/>
          </a:xfrm>
          <a:prstGeom prst="ellipse">
            <a:avLst/>
          </a:prstGeom>
          <a:solidFill>
            <a:srgbClr val="6C877D"/>
          </a:solidFill>
          <a:ln w="25400">
            <a:solidFill>
              <a:srgbClr val="6C87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729216" y="4142232"/>
            <a:ext cx="310896" cy="310896"/>
          </a:xfrm>
          <a:prstGeom prst="ellipse">
            <a:avLst/>
          </a:prstGeom>
          <a:solidFill>
            <a:srgbClr val="6C877D"/>
          </a:solidFill>
          <a:ln w="25400">
            <a:solidFill>
              <a:srgbClr val="6C87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87584" y="3968496"/>
            <a:ext cx="134416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4000" b="1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5/5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" y="5440680"/>
            <a:ext cx="1078992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9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评测使用第 12 轮检查点，不能用第 50 轮训练误差替代任务结果。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94360" y="5989320"/>
            <a:ext cx="11000232" cy="0"/>
          </a:xfrm>
          <a:prstGeom prst="line">
            <a:avLst/>
          </a:prstGeom>
          <a:ln w="12700">
            <a:solidFill>
              <a:srgbClr val="D6DBDA"/>
            </a:solidFill>
          </a:ln>
          <a:effectLst/>
        </p:spPr>
      </p:cxnSp>
      <p:sp>
        <p:nvSpPr>
          <p:cNvPr id="40" name="TextBox 39"/>
          <p:cNvSpPr txBox="1"/>
          <p:nvPr/>
        </p:nvSpPr>
        <p:spPr>
          <a:xfrm>
            <a:off x="640080" y="615391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9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每种条件只有 5 个案例、1 个训练种子；这里展示观察结果，不能据此给学习率做普遍排名。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29184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先认清图上的点和线，再讨论泛化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96112"/>
            <a:ext cx="1104595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3200" b="0">
                <a:solidFill>
                  <a:srgbClr val="252C30"/>
                </a:solidFill>
                <a:latin typeface="Lab Classroom Serif"/>
              </a:defRPr>
            </a:pPr>
            <a:r>
              <a:rPr lang="zh-CN" altLang="zh-CN">
                <a:ea typeface="Lab Classroom Serif"/>
              </a:rPr>
              <a:t>Q4｜位置偏移测试，只把罐子起点平移 4 cm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620256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9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机器人操作学习 · 中文题解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4784" y="6565392"/>
            <a:ext cx="74980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10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55648"/>
            <a:ext cx="6437376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positions_z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684" y="1783080"/>
            <a:ext cx="5427878" cy="3877056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836408" y="2212848"/>
            <a:ext cx="219456" cy="219456"/>
          </a:xfrm>
          <a:prstGeom prst="ellipse">
            <a:avLst/>
          </a:prstGeom>
          <a:solidFill>
            <a:srgbClr val="3F7085"/>
          </a:solidFill>
          <a:ln w="25400">
            <a:solidFill>
              <a:srgbClr val="3F708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13848" y="2212848"/>
            <a:ext cx="219456" cy="219456"/>
          </a:xfrm>
          <a:prstGeom prst="ellipse">
            <a:avLst/>
          </a:prstGeom>
          <a:noFill/>
          <a:ln w="25400">
            <a:solidFill>
              <a:srgbClr val="3F708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220456" y="2322576"/>
            <a:ext cx="1755648" cy="0"/>
          </a:xfrm>
          <a:prstGeom prst="line">
            <a:avLst/>
          </a:prstGeom>
          <a:ln w="38100">
            <a:solidFill>
              <a:srgbClr val="3F7085"/>
            </a:solidFill>
            <a:tailEnd type="triangle"/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7626096" y="272491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000" b="0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标准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94392" y="272491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000" b="0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偏移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3374136"/>
            <a:ext cx="36941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8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世界 X +0.04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4197096"/>
            <a:ext cx="3675887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100" b="0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同一源状态 · 同一种子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2100" b="0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偏移后仍在源料箱内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8" y="5111496"/>
            <a:ext cx="374903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点 = 初始位置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16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线 = 两个配对起点的对应关系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" y="5989320"/>
            <a:ext cx="11000232" cy="0"/>
          </a:xfrm>
          <a:prstGeom prst="line">
            <a:avLst/>
          </a:prstGeom>
          <a:ln w="12700">
            <a:solidFill>
              <a:srgbClr val="D6DBDA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640080" y="615391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9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二维位置图既不是运动轨迹，也不能证明完整观察空间里的分布外（OOD）泛化。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29184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主要模型 A：五个案例全部保留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96112"/>
            <a:ext cx="1104595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3200" b="0">
                <a:solidFill>
                  <a:srgbClr val="252C30"/>
                </a:solidFill>
                <a:latin typeface="Lab Classroom Serif"/>
              </a:defRPr>
            </a:pPr>
            <a:r>
              <a:rPr lang="zh-CN" altLang="zh-CN">
                <a:ea typeface="Lab Classroom Serif"/>
              </a:rPr>
              <a:t>Q4｜成败标签相同，完成时间仍会变化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620256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9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机器人操作学习 · 中文题解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4784" y="6565392"/>
            <a:ext cx="74980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11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56231"/>
            <a:ext cx="6885432" cy="3877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paired_steps_z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811" y="1865376"/>
            <a:ext cx="6164825" cy="382219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818120" y="1874519"/>
            <a:ext cx="3721608" cy="356616"/>
          </a:xfrm>
          <a:prstGeom prst="rect">
            <a:avLst/>
          </a:prstGeom>
          <a:solidFill>
            <a:srgbClr val="3F70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915667"/>
            <a:ext cx="35387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同一案例：demo_185 / 种子 102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624328"/>
            <a:ext cx="3749039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41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141 → 156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3438144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9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控制步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0416" y="4023360"/>
            <a:ext cx="36576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3500" b="1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+0.75 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5010912"/>
            <a:ext cx="356616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000" b="0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两种条件都成功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2000" b="0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但执行过程并不完全相同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60" y="5989320"/>
            <a:ext cx="11000232" cy="0"/>
          </a:xfrm>
          <a:prstGeom prst="line">
            <a:avLst/>
          </a:prstGeom>
          <a:ln w="12700">
            <a:solidFill>
              <a:srgbClr val="D6DBDA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640080" y="615391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9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500 步标记的是失败上限，不是成功时间；时间变化本身也不能证明某个原因。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29184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原始失败 standard_00 · 主要模型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96112"/>
            <a:ext cx="1104595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3200" b="0">
                <a:solidFill>
                  <a:srgbClr val="252C30"/>
                </a:solidFill>
                <a:latin typeface="Lab Classroom Serif"/>
              </a:defRPr>
            </a:pPr>
            <a:r>
              <a:rPr lang="zh-CN" altLang="zh-CN">
                <a:ea typeface="Lab Classroom Serif"/>
              </a:rPr>
              <a:t>Q5｜第 57 步：夹爪失去接触，随后空手抬起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620256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9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机器人操作学习 · 中文题解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4784" y="6565392"/>
            <a:ext cx="74980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12 / 15</a:t>
            </a:r>
          </a:p>
        </p:txBody>
      </p:sp>
      <p:pic>
        <p:nvPicPr>
          <p:cNvPr id="6" name="failure_hd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40080" y="1819656"/>
            <a:ext cx="6949440" cy="3938016"/>
          </a:xfrm>
          <a:prstGeom prst="rect">
            <a:avLst/>
          </a:prstGeom>
          <a:effectLst/>
        </p:spPr>
      </p:pic>
      <p:sp>
        <p:nvSpPr>
          <p:cNvPr id="7" name="Rectangle 6"/>
          <p:cNvSpPr/>
          <p:nvPr/>
        </p:nvSpPr>
        <p:spPr>
          <a:xfrm>
            <a:off x="832104" y="5349240"/>
            <a:ext cx="5074920" cy="356616"/>
          </a:xfrm>
          <a:prstGeom prst="rect">
            <a:avLst/>
          </a:prstGeom>
          <a:solidFill>
            <a:srgbClr val="B75A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5390388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点击播放 · 前 101 步 · 半速重放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2011680"/>
            <a:ext cx="34747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3100" b="1">
                <a:solidFill>
                  <a:srgbClr val="6C877D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49–56 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8431" y="2688336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100" b="0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夹爪与罐子有接触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339327" y="3200400"/>
            <a:ext cx="0" cy="502920"/>
          </a:xfrm>
          <a:prstGeom prst="line">
            <a:avLst/>
          </a:prstGeom>
          <a:ln w="38100">
            <a:solidFill>
              <a:srgbClr val="B75A50"/>
            </a:solidFill>
            <a:tailEnd type="triangle"/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7973568" y="3877056"/>
            <a:ext cx="34747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3400" b="1">
                <a:solidFill>
                  <a:srgbClr val="B75A5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第 57 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4599432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200" b="0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接触变为“无”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2200" b="0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闭合命令仍约为 +1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60" y="5989320"/>
            <a:ext cx="11000232" cy="0"/>
          </a:xfrm>
          <a:prstGeom prst="line">
            <a:avLst/>
          </a:prstGeom>
          <a:ln w="12700">
            <a:solidFill>
              <a:srgbClr val="D6DBDA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640080" y="615391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9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这是可观察的抓持丢失；“对齐不佳”或“闭合过晚”仍需要额外证据。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29184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同一失败轨迹 · 更近视角 · 与原记录逐步比对一致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96112"/>
            <a:ext cx="1104595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3200" b="0">
                <a:solidFill>
                  <a:srgbClr val="252C30"/>
                </a:solidFill>
                <a:latin typeface="Lab Classroom Serif"/>
              </a:defRPr>
            </a:pPr>
            <a:r>
              <a:rPr lang="zh-CN" altLang="zh-CN">
                <a:ea typeface="Lab Classroom Serif"/>
              </a:rPr>
              <a:t>Q5｜把错误时刻放大，和状态数值一一对应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620256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9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机器人操作学习 · 中文题解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4784" y="6565392"/>
            <a:ext cx="74980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13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810512"/>
            <a:ext cx="2743200" cy="3941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detail_045.png"/>
          <p:cNvPicPr>
            <a:picLocks noChangeAspect="1"/>
          </p:cNvPicPr>
          <p:nvPr/>
        </p:nvPicPr>
        <p:blipFill>
          <a:blip r:embed="rId3"/>
          <a:srcRect l="19000" r="23000" t="16231" b="8231"/>
          <a:stretch>
            <a:fillRect/>
          </a:stretch>
        </p:blipFill>
        <p:spPr>
          <a:xfrm>
            <a:off x="640080" y="1883664"/>
            <a:ext cx="2706624" cy="2350008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1744927" y="2816036"/>
            <a:ext cx="566928" cy="566928"/>
          </a:xfrm>
          <a:prstGeom prst="ellipse">
            <a:avLst/>
          </a:prstGeom>
          <a:noFill/>
          <a:ln w="25400">
            <a:solidFill>
              <a:srgbClr val="3F708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" y="4306824"/>
            <a:ext cx="2468880" cy="356616"/>
          </a:xfrm>
          <a:prstGeom prst="rect">
            <a:avLst/>
          </a:prstGeom>
          <a:solidFill>
            <a:srgbClr val="3F70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43479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45 步 · 接近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487375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100" b="1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开口 79.5 mm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540410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罐子 Z = 0.8601 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1296" y="1810512"/>
            <a:ext cx="2743200" cy="3941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detail_053.png"/>
          <p:cNvPicPr>
            <a:picLocks noChangeAspect="1"/>
          </p:cNvPicPr>
          <p:nvPr/>
        </p:nvPicPr>
        <p:blipFill>
          <a:blip r:embed="rId4"/>
          <a:srcRect l="19000" r="23000" t="16231" b="8231"/>
          <a:stretch>
            <a:fillRect/>
          </a:stretch>
        </p:blipFill>
        <p:spPr>
          <a:xfrm>
            <a:off x="3529584" y="1883664"/>
            <a:ext cx="2706624" cy="2350008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4639292" y="2825758"/>
            <a:ext cx="566928" cy="566928"/>
          </a:xfrm>
          <a:prstGeom prst="ellipse">
            <a:avLst/>
          </a:prstGeom>
          <a:noFill/>
          <a:ln w="25400">
            <a:solidFill>
              <a:srgbClr val="6C87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48456" y="4306824"/>
            <a:ext cx="2468880" cy="356616"/>
          </a:xfrm>
          <a:prstGeom prst="rect">
            <a:avLst/>
          </a:prstGeom>
          <a:solidFill>
            <a:srgbClr val="6C877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9896" y="43479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53 步 · 发生接触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8" y="487375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100" b="1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开口 53.4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5888" y="540410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罐子 Z = 0.8599 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810512"/>
            <a:ext cx="2743200" cy="3941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detail_057.png"/>
          <p:cNvPicPr>
            <a:picLocks noChangeAspect="1"/>
          </p:cNvPicPr>
          <p:nvPr/>
        </p:nvPicPr>
        <p:blipFill>
          <a:blip r:embed="rId5"/>
          <a:srcRect l="19000" r="23000" t="16231" b="8231"/>
          <a:stretch>
            <a:fillRect/>
          </a:stretch>
        </p:blipFill>
        <p:spPr>
          <a:xfrm>
            <a:off x="6419088" y="1883664"/>
            <a:ext cx="2706624" cy="2350008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7630878" y="2830619"/>
            <a:ext cx="566928" cy="566928"/>
          </a:xfrm>
          <a:prstGeom prst="ellipse">
            <a:avLst/>
          </a:prstGeom>
          <a:noFill/>
          <a:ln w="25400">
            <a:solidFill>
              <a:srgbClr val="B75A5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37960" y="4306824"/>
            <a:ext cx="2468880" cy="356616"/>
          </a:xfrm>
          <a:prstGeom prst="rect">
            <a:avLst/>
          </a:prstGeom>
          <a:solidFill>
            <a:srgbClr val="B75A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43479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57 步 · 接触断开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487375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100" b="1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开口 22.4 mm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540410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罐子 Z = 0.8647 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90304" y="1810512"/>
            <a:ext cx="2743200" cy="3941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detail_065.png"/>
          <p:cNvPicPr>
            <a:picLocks noChangeAspect="1"/>
          </p:cNvPicPr>
          <p:nvPr/>
        </p:nvPicPr>
        <p:blipFill>
          <a:blip r:embed="rId6"/>
          <a:srcRect l="19000" r="23000" t="16231" b="8231"/>
          <a:stretch>
            <a:fillRect/>
          </a:stretch>
        </p:blipFill>
        <p:spPr>
          <a:xfrm>
            <a:off x="9308592" y="1883664"/>
            <a:ext cx="2706624" cy="2350008"/>
          </a:xfrm>
          <a:prstGeom prst="rect">
            <a:avLst/>
          </a:prstGeom>
        </p:spPr>
      </p:pic>
      <p:sp>
        <p:nvSpPr>
          <p:cNvPr id="29" name="Oval 28"/>
          <p:cNvSpPr/>
          <p:nvPr/>
        </p:nvSpPr>
        <p:spPr>
          <a:xfrm>
            <a:off x="10432883" y="2816036"/>
            <a:ext cx="566928" cy="566928"/>
          </a:xfrm>
          <a:prstGeom prst="ellipse">
            <a:avLst/>
          </a:prstGeom>
          <a:noFill/>
          <a:ln w="25400">
            <a:solidFill>
              <a:srgbClr val="B75A5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27464" y="4306824"/>
            <a:ext cx="2468880" cy="356616"/>
          </a:xfrm>
          <a:prstGeom prst="rect">
            <a:avLst/>
          </a:prstGeom>
          <a:solidFill>
            <a:srgbClr val="B75A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18904" y="43479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65 步 · 空手上升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54896" y="487375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100" b="1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开口 2.2 mm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54896" y="540410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罐子 Z = 0.8603 m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94360" y="5989320"/>
            <a:ext cx="11000232" cy="0"/>
          </a:xfrm>
          <a:prstGeom prst="line">
            <a:avLst/>
          </a:prstGeom>
          <a:ln w="12700">
            <a:solidFill>
              <a:srgbClr val="D6DBDA"/>
            </a:solidFill>
          </a:ln>
          <a:effectLst/>
        </p:spPr>
      </p:cxnSp>
      <p:sp>
        <p:nvSpPr>
          <p:cNvPr id="35" name="TextBox 34"/>
          <p:cNvSpPr txBox="1"/>
          <p:nvPr/>
        </p:nvSpPr>
        <p:spPr>
          <a:xfrm>
            <a:off x="640080" y="615391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9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动作 a[t−1] 导致状态 s[t]；这些图片标的是控制步，不是视频帧号。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29184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诊断：先找最早异常，再讨论可能原因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96112"/>
            <a:ext cx="1104595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3200" b="0">
                <a:solidFill>
                  <a:srgbClr val="252C30"/>
                </a:solidFill>
                <a:latin typeface="Lab Classroom Serif"/>
              </a:defRPr>
            </a:pPr>
            <a:r>
              <a:rPr lang="zh-CN" altLang="zh-CN">
                <a:ea typeface="Lab Classroom Serif"/>
              </a:rPr>
              <a:t>Q5｜事实、假设、检验，分三步说清楚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620256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9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机器人操作学习 · 中文题解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4784" y="6565392"/>
            <a:ext cx="74980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14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773936"/>
            <a:ext cx="6949440" cy="39867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failure_signals_z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487" y="1801368"/>
            <a:ext cx="6006904" cy="3904487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909560" y="1828800"/>
            <a:ext cx="310896" cy="310896"/>
          </a:xfrm>
          <a:prstGeom prst="ellipse">
            <a:avLst/>
          </a:prstGeom>
          <a:solidFill>
            <a:srgbClr val="B75A50"/>
          </a:solidFill>
          <a:ln w="25400">
            <a:solidFill>
              <a:srgbClr val="B75A5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82712" y="1837943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03336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400" b="1">
                <a:solidFill>
                  <a:srgbClr val="B75A5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事实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6992" y="2331720"/>
            <a:ext cx="3621024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800" b="0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57 步失去接触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1800" b="0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罐子最大只抬高 5.72 mm</a:t>
            </a:r>
          </a:p>
        </p:txBody>
      </p:sp>
      <p:sp>
        <p:nvSpPr>
          <p:cNvPr id="12" name="Oval 11"/>
          <p:cNvSpPr/>
          <p:nvPr/>
        </p:nvSpPr>
        <p:spPr>
          <a:xfrm>
            <a:off x="7909560" y="3163824"/>
            <a:ext cx="310896" cy="310896"/>
          </a:xfrm>
          <a:prstGeom prst="ellipse">
            <a:avLst/>
          </a:prstGeom>
          <a:solidFill>
            <a:srgbClr val="B66C49"/>
          </a:solidFill>
          <a:ln w="25400">
            <a:solidFill>
              <a:srgbClr val="B66C4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82712" y="317296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3336" y="3127248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400" b="1">
                <a:solidFill>
                  <a:srgbClr val="B66C49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假设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6992" y="3666744"/>
            <a:ext cx="3621024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800" b="0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抓取对齐不佳？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1800" b="0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闭合与抬升时序不当？</a:t>
            </a:r>
          </a:p>
        </p:txBody>
      </p:sp>
      <p:sp>
        <p:nvSpPr>
          <p:cNvPr id="16" name="Oval 15"/>
          <p:cNvSpPr/>
          <p:nvPr/>
        </p:nvSpPr>
        <p:spPr>
          <a:xfrm>
            <a:off x="7909560" y="4498848"/>
            <a:ext cx="310896" cy="310896"/>
          </a:xfrm>
          <a:prstGeom prst="ellipse">
            <a:avLst/>
          </a:prstGeom>
          <a:solidFill>
            <a:srgbClr val="6C877D"/>
          </a:solidFill>
          <a:ln w="25400">
            <a:solidFill>
              <a:srgbClr val="6C87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82712" y="450799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4462272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400" b="1">
                <a:solidFill>
                  <a:srgbClr val="6C877D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检验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6992" y="5001768"/>
            <a:ext cx="3621024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800" b="0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从相同预闭合状态开始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1800" b="0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只改变固定 5 步的闭合等待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4360" y="5989320"/>
            <a:ext cx="11000232" cy="0"/>
          </a:xfrm>
          <a:prstGeom prst="line">
            <a:avLst/>
          </a:prstGeom>
          <a:ln w="12700">
            <a:solidFill>
              <a:srgbClr val="D6DBDA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640080" y="615391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9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红虚线是人工证据标注；右侧的改进实验尚未执行，不能宣称已经修复。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29184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回到 Q1–Q5：看懂数据、理解学习、解释结果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96112"/>
            <a:ext cx="1104595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3200" b="0">
                <a:solidFill>
                  <a:srgbClr val="252C30"/>
                </a:solidFill>
                <a:latin typeface="Lab Classroom Serif"/>
              </a:defRPr>
            </a:pPr>
            <a:r>
              <a:rPr lang="zh-CN" altLang="zh-CN">
                <a:ea typeface="Lab Classroom Serif"/>
              </a:rPr>
              <a:t>一份好题解，让每个结论都能找到证据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620256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9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机器人操作学习 · 中文题解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4784" y="6565392"/>
            <a:ext cx="74980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15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1856231"/>
            <a:ext cx="5248656" cy="1645920"/>
          </a:xfrm>
          <a:prstGeom prst="rect">
            <a:avLst/>
          </a:prstGeom>
          <a:solidFill>
            <a:srgbClr val="E9EC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066543"/>
            <a:ext cx="82296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31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9384" y="2066543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400" b="1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观察与动作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47672" y="2670048"/>
            <a:ext cx="3749039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8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16 维状态 → 7 维命令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18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坐标、单位、时序说清楚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7648" y="1856231"/>
            <a:ext cx="5248656" cy="1645920"/>
          </a:xfrm>
          <a:prstGeom prst="rect">
            <a:avLst/>
          </a:prstGeom>
          <a:solidFill>
            <a:srgbClr val="E9EC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2066543"/>
            <a:ext cx="82296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31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0375" y="2066543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400" b="1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训练与选择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98664" y="2670048"/>
            <a:ext cx="3749039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8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同样条件，只改学习率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18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验证集选择第 12 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" y="3730752"/>
            <a:ext cx="5248656" cy="1645920"/>
          </a:xfrm>
          <a:prstGeom prst="rect">
            <a:avLst/>
          </a:prstGeom>
          <a:solidFill>
            <a:srgbClr val="E9EC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3941064"/>
            <a:ext cx="82296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31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9384" y="3941064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400" b="1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评测与泛化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47672" y="4544568"/>
            <a:ext cx="3749039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8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成功次数 + 五个配对案例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18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位置偏移不等于严格 OOD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7648" y="3730752"/>
            <a:ext cx="5248656" cy="1645920"/>
          </a:xfrm>
          <a:prstGeom prst="rect">
            <a:avLst/>
          </a:prstGeom>
          <a:solidFill>
            <a:srgbClr val="E9EC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8816" y="3941064"/>
            <a:ext cx="82296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31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0375" y="3941064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400" b="1">
                <a:solidFill>
                  <a:srgbClr val="252C3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失败与原因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98664" y="4544568"/>
            <a:ext cx="3749039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8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第 57 步是观察到的事实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1800" b="0">
                <a:solidFill>
                  <a:srgbClr val="626B70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原因假设需要受控检验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4360" y="5989320"/>
            <a:ext cx="11000232" cy="0"/>
          </a:xfrm>
          <a:prstGeom prst="line">
            <a:avLst/>
          </a:prstGeom>
          <a:ln w="12700">
            <a:solidFill>
              <a:srgbClr val="D6DBDA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640080" y="615391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900" b="1">
                <a:solidFill>
                  <a:srgbClr val="3F7085"/>
                </a:solidFill>
                <a:latin typeface="Lab Classroom Sans"/>
              </a:defRPr>
            </a:pPr>
            <a:r>
              <a:rPr lang="zh-CN" altLang="zh-CN">
                <a:ea typeface="Lab Classroom Sans"/>
              </a:rPr>
              <a:t>四份 Notebook 已完整执行；本课讨论的是一次固定种子的仿真证据。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机器人操作学习实验｜中文题解</dc:title>
  <dc:subject/>
  <dc:creator>Manipulation Learning Lab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